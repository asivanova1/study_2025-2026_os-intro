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9" Type="http://schemas.openxmlformats.org/officeDocument/2006/relationships/viewProps" Target="viewProps.xml" /><Relationship Id="rId5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1" Type="http://schemas.openxmlformats.org/officeDocument/2006/relationships/tableStyles" Target="tableStyles.xml" /><Relationship Id="rId6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 курсу: Архитектура компьютера и операционные системы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 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Командные оболочки являются основным средством взаимодействия с UNIX-подобными операционными системами</a:t>
            </a:r>
          </a:p>
          <a:p>
            <a:pPr lvl="0"/>
            <a:r>
              <a:rPr/>
              <a:t>Навыки программирования в bash необходимы для автоматизации рутинных задач администрирования</a:t>
            </a:r>
          </a:p>
          <a:p>
            <a:pPr lvl="0"/>
            <a:r>
              <a:rPr/>
              <a:t>Понимание принципов работы shell-скриптов позволяет эффективно управлять системой и обрабатывать данные</a:t>
            </a:r>
          </a:p>
          <a:p>
            <a:pPr lvl="0"/>
            <a:r>
              <a:rPr/>
              <a:t>Создание собственных командных файлов значительно ускоряет выполнение повторяющихся операций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Объект исследования:</a:t>
            </a:r>
            <a:r>
              <a:rPr/>
              <a:t> - Командный процессор bash - Управляющие конструкции языка программирования оболочки - Способы обработки аргументов командной строки</a:t>
            </a:r>
          </a:p>
          <a:p>
            <a:pPr lvl="0" indent="0" marL="0">
              <a:buNone/>
            </a:pPr>
            <a:r>
              <a:rPr b="1"/>
              <a:t>Предмет исследования:</a:t>
            </a:r>
            <a:r>
              <a:rPr/>
              <a:t> - Создание и выполнение командных файлов в bash - Использование переменных, массивов и циклов - Обработка параметров и позиционных аргументов - Написание скриптов для автоматизации задач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Изучить основы программирования в оболочке ОС UNIX/Linux</a:t>
            </a:r>
          </a:p>
          <a:p>
            <a:pPr lvl="0"/>
            <a:r>
              <a:rPr/>
              <a:t>Научиться писать небольшие командные файлы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Выполнение лабораторной работы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1. Резервная копия самого скрипта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Создадим директорию для скриптов (рис. 1):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33400"/>
            <a:ext cx="5105400" cy="321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Создание директории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Создадим файл скрипта </a:t>
            </a:r>
            <a:r>
              <a:rPr>
                <a:latin typeface="Courier"/>
              </a:rPr>
              <a:t>backup_self.sh</a:t>
            </a:r>
            <a:r>
              <a:rPr/>
              <a:t> (рис. 2):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08400" y="203200"/>
            <a:ext cx="4813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Создание файла скрипта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Код скрипта (рис. 3):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37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Код скрипта backup_self.sh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mkdir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~/backup</a:t>
            </a:r>
            <a:br/>
            <a:r>
              <a:rPr>
                <a:solidFill>
                  <a:srgbClr val="19177C"/>
                </a:solidFill>
                <a:latin typeface="Courier"/>
              </a:rPr>
              <a:t>SCRIPT_PATH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$(</a:t>
            </a:r>
            <a:r>
              <a:rPr>
                <a:solidFill>
                  <a:srgbClr val="06287E"/>
                </a:solidFill>
                <a:latin typeface="Courier"/>
              </a:rPr>
              <a:t>realpath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$0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tar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-czf</a:t>
            </a:r>
            <a:r>
              <a:rPr>
                <a:latin typeface="Courier"/>
              </a:rPr>
              <a:t> ~/backup/backup_self.tar.gz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$SCRIPT_PATH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"Резервная копия скрипта создана: ~/backup/backup_self.tar.gz"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Сделаем скрипт исполняемым (рис. 4):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41400"/>
            <a:ext cx="5105400" cy="219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Изменение прав доступа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Запустим скрипт (рис. 5):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16100"/>
            <a:ext cx="5105400" cy="64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Запуск скрипта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6" type="arabicPeriod"/>
            </a:pPr>
            <a:r>
              <a:rPr/>
              <a:t>Проверим результат (рис. 6):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68400"/>
            <a:ext cx="51054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Проверка создания резервной копии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2. Обработка произвольного числа аргументов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Создадим файл скрипта </a:t>
            </a:r>
            <a:r>
              <a:rPr>
                <a:latin typeface="Courier"/>
              </a:rPr>
              <a:t>print_args.sh</a:t>
            </a:r>
            <a:r>
              <a:rPr/>
              <a:t> (рис. 7):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46500" y="203200"/>
            <a:ext cx="47498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Создание файла скрипта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Код скрипта (рис. 8):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68300"/>
            <a:ext cx="51054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Код скрипта print_args.sh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"Количество переданных аргументов: </a:t>
            </a:r>
            <a:r>
              <a:rPr>
                <a:solidFill>
                  <a:srgbClr val="19177C"/>
                </a:solidFill>
                <a:latin typeface="Courier"/>
              </a:rPr>
              <a:t>$#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"Все аргументы: </a:t>
            </a:r>
            <a:r>
              <a:rPr>
                <a:solidFill>
                  <a:srgbClr val="19177C"/>
                </a:solidFill>
                <a:latin typeface="Courier"/>
              </a:rPr>
              <a:t>$@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"Перебор аргументов по одному:"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arg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$@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"Аргумент: </a:t>
            </a:r>
            <a:r>
              <a:rPr>
                <a:solidFill>
                  <a:srgbClr val="19177C"/>
                </a:solidFill>
                <a:latin typeface="Courier"/>
              </a:rPr>
              <a:t>$arg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done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Запустим скрипт с 8 аргументами (рис. 9):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74700"/>
            <a:ext cx="51054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Запуск скрипта с 8 аргументами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3. Аналог команды 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Создадим файл скрипта </a:t>
            </a:r>
            <a:r>
              <a:rPr>
                <a:latin typeface="Courier"/>
              </a:rPr>
              <a:t>myls.sh</a:t>
            </a:r>
            <a:r>
              <a:rPr/>
              <a:t> (рис. 10):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59200" y="203200"/>
            <a:ext cx="47371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Создание файла скрипта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Код скрипта (рис. 11):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16400" y="203200"/>
            <a:ext cx="3797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Код скрипта myls.sh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$1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DIR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$1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DIR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"."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!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"Ошибка: 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 не является каталогом"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"Содержимое каталога: 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"=================================="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file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/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filename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$(</a:t>
            </a:r>
            <a:r>
              <a:rPr>
                <a:solidFill>
                  <a:srgbClr val="06287E"/>
                </a:solidFill>
                <a:latin typeface="Courier"/>
              </a:rPr>
              <a:t>basename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"каталог"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perms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"drwxr-xr-x"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-x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"исполняемый"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perms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"-rwxr-xr-x"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$file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"файл"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perms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"-rw-r--r--"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"другое"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perms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"----------"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$perms</a:t>
            </a:r>
            <a:r>
              <a:rPr>
                <a:solidFill>
                  <a:srgbClr val="4070A0"/>
                </a:solidFill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$filename</a:t>
            </a:r>
            <a:r>
              <a:rPr>
                <a:solidFill>
                  <a:srgbClr val="4070A0"/>
                </a:solidFill>
                <a:latin typeface="Courier"/>
              </a:rPr>
              <a:t> (</a:t>
            </a:r>
            <a:r>
              <a:rPr>
                <a:solidFill>
                  <a:srgbClr val="19177C"/>
                </a:solidFill>
                <a:latin typeface="Courier"/>
              </a:rPr>
              <a:t>$type</a:t>
            </a:r>
            <a:r>
              <a:rPr>
                <a:solidFill>
                  <a:srgbClr val="4070A0"/>
                </a:solidFill>
                <a:latin typeface="Courier"/>
              </a:rPr>
              <a:t>)"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done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Запустим скрипт (рис. 12):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79500"/>
            <a:ext cx="51054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Запуск скрипта myls.sh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Запустим скрипт для каталога </a:t>
            </a:r>
            <a:r>
              <a:rPr>
                <a:latin typeface="Courier"/>
              </a:rPr>
              <a:t>/etc</a:t>
            </a:r>
            <a:r>
              <a:rPr/>
              <a:t> (рис. 13):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000" y="203200"/>
            <a:ext cx="36068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Запуск myls.sh для /etc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4. Подсчёт файлов по расширению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Создадим файл скрипта </a:t>
            </a:r>
            <a:r>
              <a:rPr>
                <a:latin typeface="Courier"/>
              </a:rPr>
              <a:t>count_files.sh</a:t>
            </a:r>
            <a:r>
              <a:rPr/>
              <a:t> (рис. 14):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14: Создание файла скрипта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Код скрипта (рис. 15):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83000" y="203200"/>
            <a:ext cx="4889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15: Код скрипта count_files.sh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$#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-lt</a:t>
            </a:r>
            <a:r>
              <a:rPr>
                <a:latin typeface="Courier"/>
              </a:rPr>
              <a:t> 2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"Использование: </a:t>
            </a:r>
            <a:r>
              <a:rPr>
                <a:solidFill>
                  <a:srgbClr val="19177C"/>
                </a:solidFill>
                <a:latin typeface="Courier"/>
              </a:rPr>
              <a:t>$0</a:t>
            </a:r>
            <a:r>
              <a:rPr>
                <a:solidFill>
                  <a:srgbClr val="4070A0"/>
                </a:solidFill>
                <a:latin typeface="Courier"/>
              </a:rPr>
              <a:t> &lt;расширение&gt; &lt;директория&gt;"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"Пример: </a:t>
            </a:r>
            <a:r>
              <a:rPr>
                <a:solidFill>
                  <a:srgbClr val="19177C"/>
                </a:solidFill>
                <a:latin typeface="Courier"/>
              </a:rPr>
              <a:t>$0</a:t>
            </a:r>
            <a:r>
              <a:rPr>
                <a:solidFill>
                  <a:srgbClr val="4070A0"/>
                </a:solidFill>
                <a:latin typeface="Courier"/>
              </a:rPr>
              <a:t> txt /home/user"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r>
              <a:rPr>
                <a:solidFill>
                  <a:srgbClr val="19177C"/>
                </a:solidFill>
                <a:latin typeface="Courier"/>
              </a:rPr>
              <a:t>EXT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$1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>
                <a:solidFill>
                  <a:srgbClr val="19177C"/>
                </a:solidFill>
                <a:latin typeface="Courier"/>
              </a:rPr>
              <a:t>DIR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$2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>
                <a:solidFill>
                  <a:srgbClr val="19177C"/>
                </a:solidFill>
                <a:latin typeface="Courier"/>
              </a:rPr>
              <a:t>EXT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${EXT</a:t>
            </a:r>
            <a:r>
              <a:rPr>
                <a:solidFill>
                  <a:srgbClr val="666666"/>
                </a:solidFill>
                <a:latin typeface="Courier"/>
              </a:rPr>
              <a:t>#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19177C"/>
                </a:solidFill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!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-d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]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"Ошибка: каталог 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 не существует"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exit</a:t>
            </a:r>
            <a:r>
              <a:rPr>
                <a:latin typeface="Courier"/>
              </a:rPr>
              <a:t> 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fi</a:t>
            </a:r>
            <a:br/>
            <a:r>
              <a:rPr>
                <a:solidFill>
                  <a:srgbClr val="19177C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$(</a:t>
            </a:r>
            <a:r>
              <a:rPr>
                <a:solidFill>
                  <a:srgbClr val="06287E"/>
                </a:solidFill>
                <a:latin typeface="Courier"/>
              </a:rPr>
              <a:t>find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-maxdepth</a:t>
            </a:r>
            <a:r>
              <a:rPr>
                <a:latin typeface="Courier"/>
              </a:rPr>
              <a:t> 1 </a:t>
            </a:r>
            <a:r>
              <a:rPr>
                <a:solidFill>
                  <a:srgbClr val="7D9029"/>
                </a:solidFill>
                <a:latin typeface="Courier"/>
              </a:rPr>
              <a:t>-type</a:t>
            </a:r>
            <a:r>
              <a:rPr>
                <a:latin typeface="Courier"/>
              </a:rPr>
              <a:t> f </a:t>
            </a:r>
            <a:r>
              <a:rPr>
                <a:solidFill>
                  <a:srgbClr val="7D9029"/>
                </a:solidFill>
                <a:latin typeface="Courier"/>
              </a:rPr>
              <a:t>-name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"*.</a:t>
            </a:r>
            <a:r>
              <a:rPr>
                <a:solidFill>
                  <a:srgbClr val="19177C"/>
                </a:solidFill>
                <a:latin typeface="Courier"/>
              </a:rPr>
              <a:t>$EXT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/dev/null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wc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-l</a:t>
            </a:r>
            <a:r>
              <a:rPr>
                <a:solidFill>
                  <a:srgbClr val="19177C"/>
                </a:solidFill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"Количество файлов с расширением .</a:t>
            </a:r>
            <a:r>
              <a:rPr>
                <a:solidFill>
                  <a:srgbClr val="19177C"/>
                </a:solidFill>
                <a:latin typeface="Courier"/>
              </a:rPr>
              <a:t>$EXT</a:t>
            </a:r>
            <a:r>
              <a:rPr>
                <a:solidFill>
                  <a:srgbClr val="4070A0"/>
                </a:solidFill>
                <a:latin typeface="Courier"/>
              </a:rPr>
              <a:t> в каталоге </a:t>
            </a:r>
            <a:r>
              <a:rPr>
                <a:solidFill>
                  <a:srgbClr val="19177C"/>
                </a:solidFill>
                <a:latin typeface="Courier"/>
              </a:rPr>
              <a:t>$DIR</a:t>
            </a:r>
            <a:r>
              <a:rPr>
                <a:solidFill>
                  <a:srgbClr val="4070A0"/>
                </a:solidFill>
                <a:latin typeface="Courier"/>
              </a:rPr>
              <a:t>: </a:t>
            </a:r>
            <a:r>
              <a:rPr>
                <a:solidFill>
                  <a:srgbClr val="19177C"/>
                </a:solidFill>
                <a:latin typeface="Courier"/>
              </a:rPr>
              <a:t>$COUNT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Создадим тестовые файлы (рис. 16):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27100"/>
            <a:ext cx="51054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16: Создание тестовых файлов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Запустим скрипт (рис. 17):</a:t>
            </a:r>
          </a:p>
        </p:txBody>
      </p:sp>
      <p:pic>
        <p:nvPicPr>
          <p:cNvPr descr="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01800"/>
            <a:ext cx="5105400" cy="87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17: Запуск скрипта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Запустим скрипт для другого расширения (рис. 18):</a:t>
            </a:r>
          </a:p>
        </p:txBody>
      </p:sp>
      <p:pic>
        <p:nvPicPr>
          <p:cNvPr descr="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16100"/>
            <a:ext cx="5105400" cy="64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18: Подсчёт файлов с расширением jpg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Контрольные вопросы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Что такое командная оболочка? Приведите примеры.</a:t>
            </a:r>
          </a:p>
          <a:p>
            <a:pPr lvl="0" indent="0" marL="0">
              <a:buNone/>
            </a:pPr>
            <a:r>
              <a:rPr/>
              <a:t>Командная оболочка (shell) — программа для взаимодействия пользователя с ОС. Примеры: </a:t>
            </a:r>
            <a:r>
              <a:rPr>
                <a:latin typeface="Courier"/>
              </a:rPr>
              <a:t>sh</a:t>
            </a:r>
            <a:r>
              <a:rPr/>
              <a:t>, </a:t>
            </a:r>
            <a:r>
              <a:rPr>
                <a:latin typeface="Courier"/>
              </a:rPr>
              <a:t>bash</a:t>
            </a:r>
            <a:r>
              <a:rPr/>
              <a:t>, </a:t>
            </a:r>
            <a:r>
              <a:rPr>
                <a:latin typeface="Courier"/>
              </a:rPr>
              <a:t>csh</a:t>
            </a:r>
            <a:r>
              <a:rPr/>
              <a:t>, </a:t>
            </a:r>
            <a:r>
              <a:rPr>
                <a:latin typeface="Courier"/>
              </a:rPr>
              <a:t>ksh</a:t>
            </a:r>
            <a:r>
              <a:rPr/>
              <a:t>, </a:t>
            </a:r>
            <a:r>
              <a:rPr>
                <a:latin typeface="Courier"/>
              </a:rPr>
              <a:t>zsh</a:t>
            </a:r>
            <a:r>
              <a:rPr/>
              <a:t>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 Что такое POSIX?</a:t>
            </a:r>
          </a:p>
          <a:p>
            <a:pPr lvl="0" indent="0" marL="0">
              <a:buNone/>
            </a:pPr>
            <a:r>
              <a:rPr/>
              <a:t>POSIX — набор стандартов для совместимости UNIX-подобных систем.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Как определяются переменные и массивы в bash?</a:t>
            </a:r>
          </a:p>
          <a:p>
            <a:pPr lvl="0" indent="0" marL="0">
              <a:buNone/>
            </a:pPr>
            <a:r>
              <a:rPr/>
              <a:t>Переменные: </a:t>
            </a:r>
            <a:r>
              <a:rPr>
                <a:latin typeface="Courier"/>
              </a:rPr>
              <a:t>var=value</a:t>
            </a:r>
            <a:r>
              <a:rPr/>
              <a:t>. Массивы: </a:t>
            </a:r>
            <a:r>
              <a:rPr>
                <a:latin typeface="Courier"/>
              </a:rPr>
              <a:t>arr=(val1 val2)</a:t>
            </a:r>
            <a:r>
              <a:rPr/>
              <a:t> или </a:t>
            </a:r>
            <a:r>
              <a:rPr>
                <a:latin typeface="Courier"/>
              </a:rPr>
              <a:t>set -A arr val1 val2</a:t>
            </a:r>
            <a:r>
              <a:rPr/>
              <a:t>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 Каково назначение операторов let и read?</a:t>
            </a:r>
          </a:p>
          <a:p>
            <a:pPr lvl="0"/>
            <a:r>
              <a:rPr>
                <a:latin typeface="Courier"/>
              </a:rPr>
              <a:t>let</a:t>
            </a:r>
            <a:r>
              <a:rPr/>
              <a:t> — арифметические вычисления</a:t>
            </a:r>
          </a:p>
          <a:p>
            <a:pPr lvl="0"/>
            <a:r>
              <a:rPr>
                <a:latin typeface="Courier"/>
              </a:rPr>
              <a:t>read</a:t>
            </a:r>
            <a:r>
              <a:rPr/>
              <a:t> — чтение ввода с клавиатуры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5. Какие арифметические операции можно применять?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+</a:t>
            </a:r>
            <a:r>
              <a:rPr/>
              <a:t>, </a:t>
            </a:r>
            <a:r>
              <a:rPr>
                <a:latin typeface="Courier"/>
              </a:rPr>
              <a:t>-</a:t>
            </a:r>
            <a:r>
              <a:rPr/>
              <a:t>, </a:t>
            </a:r>
            <a:r>
              <a:rPr>
                <a:latin typeface="Courier"/>
              </a:rPr>
              <a:t>*</a:t>
            </a:r>
            <a:r>
              <a:rPr/>
              <a:t>, </a:t>
            </a:r>
            <a:r>
              <a:rPr>
                <a:latin typeface="Courier"/>
              </a:rPr>
              <a:t>/</a:t>
            </a:r>
            <a:r>
              <a:rPr/>
              <a:t>, </a:t>
            </a:r>
            <a:r>
              <a:rPr>
                <a:latin typeface="Courier"/>
              </a:rPr>
              <a:t>%</a:t>
            </a:r>
            <a:r>
              <a:rPr/>
              <a:t>, </a:t>
            </a:r>
            <a:r>
              <a:rPr>
                <a:latin typeface="Courier"/>
              </a:rPr>
              <a:t>**</a:t>
            </a:r>
            <a:r>
              <a:rPr/>
              <a:t>, побитовые операции.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 Что означает операция (( ))?</a:t>
            </a:r>
          </a:p>
          <a:p>
            <a:pPr lvl="0" indent="0" marL="0">
              <a:buNone/>
            </a:pPr>
            <a:r>
              <a:rPr/>
              <a:t>Двойные скобки для арифметических вычислений и условных выражений.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7. Какие стандартные имена переменных Вам известны?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PATH</a:t>
            </a:r>
            <a:r>
              <a:rPr/>
              <a:t>, </a:t>
            </a:r>
            <a:r>
              <a:rPr>
                <a:latin typeface="Courier"/>
              </a:rPr>
              <a:t>HOME</a:t>
            </a:r>
            <a:r>
              <a:rPr/>
              <a:t>, </a:t>
            </a:r>
            <a:r>
              <a:rPr>
                <a:latin typeface="Courier"/>
              </a:rPr>
              <a:t>USER</a:t>
            </a:r>
            <a:r>
              <a:rPr/>
              <a:t>, </a:t>
            </a:r>
            <a:r>
              <a:rPr>
                <a:latin typeface="Courier"/>
              </a:rPr>
              <a:t>SHELL</a:t>
            </a:r>
            <a:r>
              <a:rPr/>
              <a:t>, </a:t>
            </a:r>
            <a:r>
              <a:rPr>
                <a:latin typeface="Courier"/>
              </a:rPr>
              <a:t>PWD</a:t>
            </a:r>
            <a:r>
              <a:rPr/>
              <a:t>, </a:t>
            </a:r>
            <a:r>
              <a:rPr>
                <a:latin typeface="Courier"/>
              </a:rPr>
              <a:t>IFS</a:t>
            </a:r>
            <a:r>
              <a:rPr/>
              <a:t>, </a:t>
            </a:r>
            <a:r>
              <a:rPr>
                <a:latin typeface="Courier"/>
              </a:rPr>
              <a:t>MAIL</a:t>
            </a:r>
            <a:r>
              <a:rPr/>
              <a:t>, </a:t>
            </a:r>
            <a:r>
              <a:rPr>
                <a:latin typeface="Courier"/>
              </a:rPr>
              <a:t>TERM</a:t>
            </a:r>
            <a:r>
              <a:rPr/>
              <a:t>, </a:t>
            </a:r>
            <a:r>
              <a:rPr>
                <a:latin typeface="Courier"/>
              </a:rPr>
              <a:t>LOGNAME</a:t>
            </a:r>
            <a:r>
              <a:rPr/>
              <a:t>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8. Что такое метасимволы?</a:t>
            </a:r>
          </a:p>
          <a:p>
            <a:pPr lvl="0" indent="0" marL="0">
              <a:buNone/>
            </a:pPr>
            <a:r>
              <a:rPr/>
              <a:t>Символы со специальным значением: </a:t>
            </a:r>
            <a:r>
              <a:rPr>
                <a:latin typeface="Courier"/>
              </a:rPr>
              <a:t>*</a:t>
            </a:r>
            <a:r>
              <a:rPr/>
              <a:t>, </a:t>
            </a:r>
            <a:r>
              <a:rPr>
                <a:latin typeface="Courier"/>
              </a:rPr>
              <a:t>?</a:t>
            </a:r>
            <a:r>
              <a:rPr/>
              <a:t>, </a:t>
            </a:r>
            <a:r>
              <a:rPr>
                <a:latin typeface="Courier"/>
              </a:rPr>
              <a:t>[</a:t>
            </a:r>
            <a:r>
              <a:rPr/>
              <a:t>, </a:t>
            </a:r>
            <a:r>
              <a:rPr>
                <a:latin typeface="Courier"/>
              </a:rPr>
              <a:t>]</a:t>
            </a:r>
            <a:r>
              <a:rPr/>
              <a:t>, </a:t>
            </a:r>
            <a:r>
              <a:rPr>
                <a:latin typeface="Courier"/>
              </a:rPr>
              <a:t>&gt;</a:t>
            </a:r>
            <a:r>
              <a:rPr/>
              <a:t>, </a:t>
            </a:r>
            <a:r>
              <a:rPr>
                <a:latin typeface="Courier"/>
              </a:rPr>
              <a:t>&lt;</a:t>
            </a:r>
            <a:r>
              <a:rPr/>
              <a:t>, </a:t>
            </a:r>
            <a:r>
              <a:rPr>
                <a:latin typeface="Courier"/>
              </a:rPr>
              <a:t>|</a:t>
            </a:r>
            <a:r>
              <a:rPr/>
              <a:t>, </a:t>
            </a:r>
            <a:r>
              <a:rPr>
                <a:latin typeface="Courier"/>
              </a:rPr>
              <a:t>&amp;</a:t>
            </a:r>
            <a:r>
              <a:rPr/>
              <a:t>, </a:t>
            </a:r>
            <a:r>
              <a:rPr>
                <a:latin typeface="Courier"/>
              </a:rPr>
              <a:t>;</a:t>
            </a:r>
            <a:r>
              <a:rPr/>
              <a:t>, </a:t>
            </a:r>
            <a:r>
              <a:rPr>
                <a:latin typeface="Courier"/>
              </a:rPr>
              <a:t>$</a:t>
            </a:r>
            <a:r>
              <a:rPr/>
              <a:t>, </a:t>
            </a:r>
            <a:r>
              <a:rPr>
                <a:latin typeface="Courier"/>
              </a:rPr>
              <a:t>\</a:t>
            </a:r>
            <a:r>
              <a:rPr/>
              <a:t>, </a:t>
            </a:r>
            <a:r>
              <a:rPr>
                <a:latin typeface="Courier"/>
              </a:rPr>
              <a:t>`</a:t>
            </a:r>
            <a:r>
              <a:rPr/>
              <a:t>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9. Как экранировать метасимволы?</a:t>
            </a:r>
          </a:p>
          <a:p>
            <a:pPr lvl="0"/>
            <a:r>
              <a:rPr>
                <a:latin typeface="Courier"/>
              </a:rPr>
              <a:t>\</a:t>
            </a:r>
            <a:r>
              <a:rPr/>
              <a:t> — экранирование одного символа</a:t>
            </a:r>
          </a:p>
          <a:p>
            <a:pPr lvl="0"/>
            <a:r>
              <a:rPr>
                <a:latin typeface="Courier"/>
              </a:rPr>
              <a:t>'...'</a:t>
            </a:r>
            <a:r>
              <a:rPr/>
              <a:t> — полное экранирование</a:t>
            </a:r>
          </a:p>
          <a:p>
            <a:pPr lvl="0"/>
            <a:r>
              <a:rPr>
                <a:latin typeface="Courier"/>
              </a:rPr>
              <a:t>"..."</a:t>
            </a:r>
            <a:r>
              <a:rPr/>
              <a:t> — частичное экранирование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10. Как создавать и запускать командные файлы?</a:t>
            </a:r>
          </a:p>
          <a:p>
            <a:pPr lvl="0" indent="0" marL="0">
              <a:buNone/>
            </a:pPr>
            <a:r>
              <a:rPr/>
              <a:t>Создать файл с </a:t>
            </a:r>
            <a:r>
              <a:rPr>
                <a:latin typeface="Courier"/>
              </a:rPr>
              <a:t>#!/bin/bash</a:t>
            </a:r>
            <a:r>
              <a:rPr/>
              <a:t>, сделать исполняемым (</a:t>
            </a:r>
            <a:r>
              <a:rPr>
                <a:latin typeface="Courier"/>
              </a:rPr>
              <a:t>chmod +x</a:t>
            </a:r>
            <a:r>
              <a:rPr/>
              <a:t>), запустить </a:t>
            </a:r>
            <a:r>
              <a:rPr>
                <a:latin typeface="Courier"/>
              </a:rPr>
              <a:t>./file.sh</a:t>
            </a:r>
            <a:r>
              <a:rPr/>
              <a:t>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11. Как определяются функции в bash?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solidFill>
                  <a:srgbClr val="06287E"/>
                </a:solidFill>
                <a:latin typeface="Courier"/>
              </a:rPr>
              <a:t> name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latin typeface="Courier"/>
              </a:rPr>
              <a:t> commands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или</a:t>
            </a:r>
            <a:br/>
            <a:r>
              <a:rPr>
                <a:solidFill>
                  <a:srgbClr val="06287E"/>
                </a:solidFill>
                <a:latin typeface="Courier"/>
              </a:rPr>
              <a:t>name()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latin typeface="Courier"/>
              </a:rPr>
              <a:t> commands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12. Как выяснить, файл или каталог?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 -d "$file" ]</a:t>
            </a:r>
            <a:r>
              <a:rPr/>
              <a:t> — каталог, </a:t>
            </a:r>
            <a:r>
              <a:rPr>
                <a:latin typeface="Courier"/>
              </a:rPr>
              <a:t>[ -f "$file" ]</a:t>
            </a:r>
            <a:r>
              <a:rPr/>
              <a:t> — файл.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13. Назначение команд set, typeset и unset?</a:t>
            </a:r>
          </a:p>
          <a:p>
            <a:pPr lvl="0"/>
            <a:r>
              <a:rPr>
                <a:latin typeface="Courier"/>
              </a:rPr>
              <a:t>set</a:t>
            </a:r>
            <a:r>
              <a:rPr/>
              <a:t> — установка параметров оболочки</a:t>
            </a:r>
          </a:p>
          <a:p>
            <a:pPr lvl="0"/>
            <a:r>
              <a:rPr>
                <a:latin typeface="Courier"/>
              </a:rPr>
              <a:t>typeset</a:t>
            </a:r>
            <a:r>
              <a:rPr/>
              <a:t> — атрибуты переменных</a:t>
            </a:r>
          </a:p>
          <a:p>
            <a:pPr lvl="0"/>
            <a:r>
              <a:rPr>
                <a:latin typeface="Courier"/>
              </a:rPr>
              <a:t>unset</a:t>
            </a:r>
            <a:r>
              <a:rPr/>
              <a:t> — удаление переменных/функций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14. Как передаются параметры в командные файлы?</a:t>
            </a:r>
          </a:p>
          <a:p>
            <a:pPr lvl="0" indent="0" marL="0">
              <a:buNone/>
            </a:pPr>
            <a:r>
              <a:rPr/>
              <a:t>Через позиционные параметры: </a:t>
            </a:r>
            <a:r>
              <a:rPr>
                <a:latin typeface="Courier"/>
              </a:rPr>
              <a:t>$1</a:t>
            </a:r>
            <a:r>
              <a:rPr/>
              <a:t>, </a:t>
            </a:r>
            <a:r>
              <a:rPr>
                <a:latin typeface="Courier"/>
              </a:rPr>
              <a:t>$2</a:t>
            </a:r>
            <a:r>
              <a:rPr/>
              <a:t>, … </a:t>
            </a:r>
            <a:r>
              <a:rPr>
                <a:latin typeface="Courier"/>
              </a:rPr>
              <a:t>$9</a:t>
            </a:r>
            <a:r>
              <a:rPr/>
              <a:t>, </a:t>
            </a:r>
            <a:r>
              <a:rPr>
                <a:latin typeface="Courier"/>
              </a:rPr>
              <a:t>${10}</a:t>
            </a:r>
            <a:r>
              <a:rPr/>
              <a:t>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15. Назовите специальные переменные bash.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$0</a:t>
            </a:r>
            <a:r>
              <a:rPr/>
              <a:t> — имя скрипта, </a:t>
            </a:r>
            <a:r>
              <a:rPr>
                <a:latin typeface="Courier"/>
              </a:rPr>
              <a:t>$#</a:t>
            </a:r>
            <a:r>
              <a:rPr/>
              <a:t> — количество параметров, </a:t>
            </a:r>
            <a:r>
              <a:rPr>
                <a:latin typeface="Courier"/>
              </a:rPr>
              <a:t>$@</a:t>
            </a:r>
            <a:r>
              <a:rPr/>
              <a:t> — все параметры, </a:t>
            </a:r>
            <a:r>
              <a:rPr>
                <a:latin typeface="Courier"/>
              </a:rPr>
              <a:t>$?</a:t>
            </a:r>
            <a:r>
              <a:rPr/>
              <a:t> — код возврата, </a:t>
            </a:r>
            <a:r>
              <a:rPr>
                <a:latin typeface="Courier"/>
              </a:rPr>
              <a:t>$$</a:t>
            </a:r>
            <a:r>
              <a:rPr/>
              <a:t> — PID, </a:t>
            </a:r>
            <a:r>
              <a:rPr>
                <a:latin typeface="Courier"/>
              </a:rPr>
              <a:t>$!</a:t>
            </a:r>
            <a:r>
              <a:rPr/>
              <a:t> — PID последнего фонового процесса.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Вывод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Мы изучили основы программирования в оболочке bash, научились создавать командные файлы, работать с переменными и массивами, использовать управляющие конструкции </a:t>
            </a:r>
            <a:r>
              <a:rPr>
                <a:latin typeface="Courier"/>
              </a:rPr>
              <a:t>for</a:t>
            </a:r>
            <a:r>
              <a:rPr/>
              <a:t>, </a:t>
            </a:r>
            <a:r>
              <a:rPr>
                <a:latin typeface="Courier"/>
              </a:rPr>
              <a:t>if</a:t>
            </a:r>
            <a:r>
              <a:rPr/>
              <a:t>, организовывать поиск файлов и обрабатывать аргументы командной строки. В ходе работы были разработаны четыре скрипта: для создания резервной копии, обработки произвольного числа аргументов, аналог команды </a:t>
            </a:r>
            <a:r>
              <a:rPr>
                <a:latin typeface="Courier"/>
              </a:rPr>
              <a:t>ls</a:t>
            </a:r>
            <a:r>
              <a:rPr/>
              <a:t> и подсчёт файлов по расширению.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№12</dc:title>
  <dc:creator>Иванова Анастасия Сергеевна</dc:creator>
  <cp:keywords/>
  <dcterms:created xsi:type="dcterms:W3CDTF">2026-04-26T16:55:36Z</dcterms:created>
  <dcterms:modified xsi:type="dcterms:W3CDTF">2026-04-26T16:55:36Z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2026-04-26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по курсу: Архитектура компьютера и операционные системы</vt:lpwstr>
  </property>
  <property fmtid="{D5CDD505-2E9C-101B-9397-08002B2CF9AE}" pid="16" name="toc-title">
    <vt:lpwstr>Содержание</vt:lpwstr>
  </property>
</Properties>
</file>