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60" Type="http://schemas.openxmlformats.org/officeDocument/2006/relationships/viewProps" Target="viewProps.xml" /><Relationship Id="rId5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5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6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 курсу: Архитектура компьютера и операционные системы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Редактор Emacs является одним из самых мощных и настраиваемых текстовых редакторов в мире</a:t>
            </a:r>
          </a:p>
          <a:p>
            <a:pPr lvl="0"/>
            <a:r>
              <a:rPr/>
              <a:t>Широко используется разработчиками, системными администраторами и исследователями благодаря своей расширяемости</a:t>
            </a:r>
          </a:p>
          <a:p>
            <a:pPr lvl="0"/>
            <a:r>
              <a:rPr/>
              <a:t>Поддерживает множество языков программирования, интеграцию с системами контроля версий и средствами отладки</a:t>
            </a:r>
          </a:p>
          <a:p>
            <a:pPr lvl="0"/>
            <a:r>
              <a:rPr/>
              <a:t>Освоение Emacs позволяет значительно повысить эффективность работы с текстом и кодом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- Текстовый редактор Emacs - Режимы работы и система комбинаций клавиш - Архитектура расширений на языке Elisp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- Процесс создания и редактирования текстовых файлов с помощью Emacs - Основные комбинации клавиш для навигации, редактирования и управления буферами - Способы работы с несколькими окнами и буферами - Функции поиска и замены текста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Познакомиться с операционной системой Linux</a:t>
            </a:r>
          </a:p>
          <a:p>
            <a:pPr lvl="0"/>
            <a:r>
              <a:rPr/>
              <a:t>Получить практические навыки работы с редактором Emacs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Выполнение лабораторной работы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1. Основные команды emacs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Откроем emacs (рис. 1):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41300"/>
            <a:ext cx="51054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Запуск emacs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Создадим файл lab07.sh с помощью комбинации </a:t>
            </a:r>
            <a:r>
              <a:rPr>
                <a:latin typeface="Courier"/>
              </a:rPr>
              <a:t>C-x C-f</a:t>
            </a:r>
            <a:r>
              <a:rPr/>
              <a:t> (рис. 2):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5900"/>
            <a:ext cx="5105400" cy="386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Создание файла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Наберём текст (рис. 3):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8600"/>
            <a:ext cx="5105400" cy="382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Ввод текста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Текст файла: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solidFill>
                  <a:srgbClr val="19177C"/>
                </a:solidFill>
                <a:latin typeface="Courier"/>
              </a:rPr>
              <a:t>HELL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Hello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solidFill>
                  <a:srgbClr val="06287E"/>
                </a:solidFill>
                <a:latin typeface="Courier"/>
              </a:rPr>
              <a:t> hello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LOCAL HELLO=World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$HELLO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$HELLO</a:t>
            </a:r>
            <a:br/>
            <a:r>
              <a:rPr>
                <a:latin typeface="Courier"/>
              </a:rPr>
              <a:t>hello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Сохраним файл с помощью комбинации </a:t>
            </a:r>
            <a:r>
              <a:rPr>
                <a:latin typeface="Courier"/>
              </a:rPr>
              <a:t>C-x C-s</a:t>
            </a:r>
            <a:r>
              <a:rPr/>
              <a:t> (рис. 4):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41300"/>
            <a:ext cx="51054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Сохранение файла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2. Редактирование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5.1. Вырежем одной командой целую строку (</a:t>
            </a:r>
            <a:r>
              <a:rPr>
                <a:latin typeface="Courier"/>
              </a:rPr>
              <a:t>C-k</a:t>
            </a:r>
            <a:r>
              <a:rPr/>
              <a:t>) (рис. 5):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44900" y="203200"/>
            <a:ext cx="4953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Вырезание строки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5.2. Вставим эту строку в конец файла (</a:t>
            </a:r>
            <a:r>
              <a:rPr>
                <a:latin typeface="Courier"/>
              </a:rPr>
              <a:t>C-y</a:t>
            </a:r>
            <a:r>
              <a:rPr/>
              <a:t>) (рис. 6):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35400" y="203200"/>
            <a:ext cx="4584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Вставка строки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5.3. Выделим область текста (</a:t>
            </a:r>
            <a:r>
              <a:rPr>
                <a:latin typeface="Courier"/>
              </a:rPr>
              <a:t>C-space</a:t>
            </a:r>
            <a:r>
              <a:rPr/>
              <a:t>) (рис. 7):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93700"/>
            <a:ext cx="5105400" cy="349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Выделение текста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5.4. Скопируем область в буфер обмена (</a:t>
            </a:r>
            <a:r>
              <a:rPr>
                <a:latin typeface="Courier"/>
              </a:rPr>
              <a:t>M-w</a:t>
            </a:r>
            <a:r>
              <a:rPr/>
              <a:t>) (рис. 8):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93700"/>
            <a:ext cx="5105400" cy="349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Копирование области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5.5. Вставим область в конец файла (</a:t>
            </a:r>
            <a:r>
              <a:rPr>
                <a:latin typeface="Courier"/>
              </a:rPr>
              <a:t>C-y</a:t>
            </a:r>
            <a:r>
              <a:rPr/>
              <a:t>) (рис. 9):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54000"/>
            <a:ext cx="5105400" cy="378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Вставка области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 Вновь выделим эту область и вырежем её (</a:t>
            </a:r>
            <a:r>
              <a:rPr>
                <a:latin typeface="Courier"/>
              </a:rPr>
              <a:t>C-w</a:t>
            </a:r>
            <a:r>
              <a:rPr/>
              <a:t>) (рис. 10):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7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Вырезание области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 Отменим последнее действие (</a:t>
            </a:r>
            <a:r>
              <a:rPr>
                <a:latin typeface="Courier"/>
              </a:rPr>
              <a:t>C-/</a:t>
            </a:r>
            <a:r>
              <a:rPr/>
              <a:t>) (рис. 11):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33800" y="203200"/>
            <a:ext cx="4762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Отмена действия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3. Перемещение курсора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6.1. Переместим курсор в начало строки (</a:t>
            </a:r>
            <a:r>
              <a:rPr>
                <a:latin typeface="Courier"/>
              </a:rPr>
              <a:t>C-a</a:t>
            </a:r>
            <a:r>
              <a:rPr/>
              <a:t>) (рис. 12):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8600"/>
            <a:ext cx="5105400" cy="382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Начало строки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6.2. Переместим курсор в конец строки (</a:t>
            </a:r>
            <a:r>
              <a:rPr>
                <a:latin typeface="Courier"/>
              </a:rPr>
              <a:t>C-e</a:t>
            </a:r>
            <a:r>
              <a:rPr/>
              <a:t>) (рис. 13):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60800" y="203200"/>
            <a:ext cx="4508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Конец строки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6.3. Переместим курсор в начало буфера (</a:t>
            </a:r>
            <a:r>
              <a:rPr>
                <a:latin typeface="Courier"/>
              </a:rPr>
              <a:t>M-&lt;</a:t>
            </a:r>
            <a:r>
              <a:rPr/>
              <a:t>) (рис. 14):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203200"/>
            <a:ext cx="5067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Начало буфера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6.4. Переместим курсор в конец буфера (</a:t>
            </a:r>
            <a:r>
              <a:rPr>
                <a:latin typeface="Courier"/>
              </a:rPr>
              <a:t>M-&gt;</a:t>
            </a:r>
            <a:r>
              <a:rPr/>
              <a:t>) (рис. 15):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375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Конец буфера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4. Управление буферами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7.1. Выведем список активных буферов на экран (</a:t>
            </a:r>
            <a:r>
              <a:rPr>
                <a:latin typeface="Courier"/>
              </a:rPr>
              <a:t>C-x C-b</a:t>
            </a:r>
            <a:r>
              <a:rPr/>
              <a:t>) (рис. 16):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Список буферов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7.2. Переместимся во вновь открытое окно со списком буферов (</a:t>
            </a:r>
            <a:r>
              <a:rPr>
                <a:latin typeface="Courier"/>
              </a:rPr>
              <a:t>C-x o</a:t>
            </a:r>
            <a:r>
              <a:rPr/>
              <a:t>) (рис. 17):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Перемещение в другое окно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 Закроем это окно (</a:t>
            </a:r>
            <a:r>
              <a:rPr>
                <a:latin typeface="Courier"/>
              </a:rPr>
              <a:t>C-x 0</a:t>
            </a:r>
            <a:r>
              <a:rPr/>
              <a:t>) (рис. 18):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5900"/>
            <a:ext cx="5105400" cy="386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Закрытие окна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7.4. Переключимся между буферами без вывода списка на экран (</a:t>
            </a:r>
            <a:r>
              <a:rPr>
                <a:latin typeface="Courier"/>
              </a:rPr>
              <a:t>C-x b</a:t>
            </a:r>
            <a:r>
              <a:rPr/>
              <a:t>) (рис. 19):</a:t>
            </a:r>
          </a:p>
        </p:txBody>
      </p:sp>
      <p:pic>
        <p:nvPicPr>
          <p:cNvPr descr="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93700"/>
            <a:ext cx="5105400" cy="350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Переключение буферов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5. Управление окнами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8.1. Разделим фрейм на 4 части: сначала разделим по вертикали (</a:t>
            </a:r>
            <a:r>
              <a:rPr>
                <a:latin typeface="Courier"/>
              </a:rPr>
              <a:t>C-x 3</a:t>
            </a:r>
            <a:r>
              <a:rPr/>
              <a:t>), затем каждое окно по горизонтали (</a:t>
            </a:r>
            <a:r>
              <a:rPr>
                <a:latin typeface="Courier"/>
              </a:rPr>
              <a:t>C-x 2</a:t>
            </a:r>
            <a:r>
              <a:rPr/>
              <a:t>) (рис. 20):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54000"/>
            <a:ext cx="5105400" cy="377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20: Разделение окон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 В каждом из четырёх созданных окон откроем новый буфер (файл) и введём несколько строк текста (рис. 21):</a:t>
            </a:r>
          </a:p>
        </p:txBody>
      </p:sp>
      <p:pic>
        <p:nvPicPr>
          <p:cNvPr descr="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41300"/>
            <a:ext cx="5105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21: Работа в четырёх окнах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6. Поиск и замена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9.1. Переключимся в режим поиска (</a:t>
            </a:r>
            <a:r>
              <a:rPr>
                <a:latin typeface="Courier"/>
              </a:rPr>
              <a:t>C-s</a:t>
            </a:r>
            <a:r>
              <a:rPr/>
              <a:t>) и найдём несколько слов, присутствующих в тексте (рис. 22):</a:t>
            </a:r>
          </a:p>
        </p:txBody>
      </p:sp>
      <p:pic>
        <p:nvPicPr>
          <p:cNvPr descr="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9400" y="203200"/>
            <a:ext cx="4064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22: Поиск текста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9.2. Переключимся между результатами поиска, нажимая </a:t>
            </a:r>
            <a:r>
              <a:rPr>
                <a:latin typeface="Courier"/>
              </a:rPr>
              <a:t>C-s</a:t>
            </a:r>
            <a:r>
              <a:rPr/>
              <a:t> (рис. 23):</a:t>
            </a:r>
          </a:p>
        </p:txBody>
      </p:sp>
      <p:pic>
        <p:nvPicPr>
          <p:cNvPr descr="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48100" y="203200"/>
            <a:ext cx="45466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23: Переключение результатов поиска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9.3. Выйдем из режима поиска, нажав </a:t>
            </a:r>
            <a:r>
              <a:rPr>
                <a:latin typeface="Courier"/>
              </a:rPr>
              <a:t>C-g</a:t>
            </a:r>
            <a:r>
              <a:rPr/>
              <a:t> (рис. 24):</a:t>
            </a:r>
          </a:p>
        </p:txBody>
      </p:sp>
      <p:pic>
        <p:nvPicPr>
          <p:cNvPr descr="imag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203200"/>
            <a:ext cx="5029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24: Выход из поиска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 Перейдём в режим поиска и замены (</a:t>
            </a:r>
            <a:r>
              <a:rPr>
                <a:latin typeface="Courier"/>
              </a:rPr>
              <a:t>M-%</a:t>
            </a:r>
            <a:r>
              <a:rPr/>
              <a:t>), введём текст, который следует найти и заменить, затем текст для замены. После подсветки результатов нажмём </a:t>
            </a:r>
            <a:r>
              <a:rPr>
                <a:latin typeface="Courier"/>
              </a:rPr>
              <a:t>!</a:t>
            </a:r>
            <a:r>
              <a:rPr/>
              <a:t> для подтверждения замены (рис. 25):</a:t>
            </a:r>
          </a:p>
        </p:txBody>
      </p:sp>
      <p:pic>
        <p:nvPicPr>
          <p:cNvPr descr="image/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71900" y="203200"/>
            <a:ext cx="4686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25: Поиск и замена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Контрольные вопросы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Кратко охарактеризуйте редактор emacs.</a:t>
            </a:r>
          </a:p>
          <a:p>
            <a:pPr lvl="0" indent="0" marL="0">
              <a:buNone/>
            </a:pPr>
            <a:r>
              <a:rPr/>
              <a:t>Emacs — мощный экранный редактор текста, написанный на языке высокого уровня Elisp. Поддерживает множество режимов, расширений и может быть настроен под любые задачи.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Какие особенности данного редактора могут сделать его сложным для освоения новичком?</a:t>
            </a:r>
          </a:p>
          <a:p>
            <a:pPr lvl="0" indent="0" marL="0">
              <a:buNone/>
            </a:pPr>
            <a:r>
              <a:rPr/>
              <a:t>Сложность в большом количестве комбинаций клавиш, неочевидных для новичка. Многие действия выполняются через </a:t>
            </a:r>
            <a:r>
              <a:rPr>
                <a:latin typeface="Courier"/>
              </a:rPr>
              <a:t>Ctrl</a:t>
            </a:r>
            <a:r>
              <a:rPr/>
              <a:t> и </a:t>
            </a:r>
            <a:r>
              <a:rPr>
                <a:latin typeface="Courier"/>
              </a:rPr>
              <a:t>Meta</a:t>
            </a:r>
            <a:r>
              <a:rPr/>
              <a:t> (Alt), а не через меню. Также Emacs имеет собственную философию и терминологию (буферы, фреймы, окна).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Своими словами опишите, что такое буфер и окно в терминологии emacs’а.</a:t>
            </a:r>
          </a:p>
          <a:p>
            <a:pPr lvl="0"/>
            <a:r>
              <a:rPr b="1"/>
              <a:t>Буфер</a:t>
            </a:r>
            <a:r>
              <a:rPr/>
              <a:t> — объект, содержащий какой-либо текст (файл, результаты компиляции, сообщения, справку). Буфер может быть не связан с файлом на диске.</a:t>
            </a:r>
          </a:p>
          <a:p>
            <a:pPr lvl="0"/>
            <a:r>
              <a:rPr b="1"/>
              <a:t>Окно</a:t>
            </a:r>
            <a:r>
              <a:rPr/>
              <a:t> — прямоугольная область фрейма, отображающая один буфер. Один фрейм может содержать несколько окон.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Можно ли открыть больше 10 буферов в одном окне?</a:t>
            </a:r>
          </a:p>
          <a:p>
            <a:pPr lvl="0" indent="0" marL="0">
              <a:buNone/>
            </a:pPr>
            <a:r>
              <a:rPr/>
              <a:t>Да, количество буферов не ограничено. Окно показывает один буфер в каждый момент времени, но переключаться между буферами можно в любом количестве.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Какие буферы создаются по умолчанию при запуске emacs?</a:t>
            </a:r>
          </a:p>
          <a:p>
            <a:pPr lvl="0" indent="0" marL="0">
              <a:buNone/>
            </a:pPr>
            <a:r>
              <a:rPr/>
              <a:t>По умолчанию создаются: </a:t>
            </a:r>
            <a:r>
              <a:rPr>
                <a:latin typeface="Courier"/>
              </a:rPr>
              <a:t>*scratch*</a:t>
            </a:r>
            <a:r>
              <a:rPr/>
              <a:t> (черновик для временных записей), </a:t>
            </a:r>
            <a:r>
              <a:rPr>
                <a:latin typeface="Courier"/>
              </a:rPr>
              <a:t>*Messages*</a:t>
            </a:r>
            <a:r>
              <a:rPr/>
              <a:t> (буфер с системными сообщениями), </a:t>
            </a:r>
            <a:r>
              <a:rPr>
                <a:latin typeface="Courier"/>
              </a:rPr>
              <a:t>*GNU Emacs*</a:t>
            </a:r>
            <a:r>
              <a:rPr/>
              <a:t> (приветственное окно).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Какие клавиши вы нажмёте, чтобы ввести следующую комбинацию C-c | и C-c C-|?</a:t>
            </a:r>
          </a:p>
          <a:p>
            <a:pPr lvl="0"/>
            <a:r>
              <a:rPr>
                <a:latin typeface="Courier"/>
              </a:rPr>
              <a:t>C-c |</a:t>
            </a:r>
            <a:r>
              <a:rPr/>
              <a:t> — </a:t>
            </a:r>
            <a:r>
              <a:rPr>
                <a:latin typeface="Courier"/>
              </a:rPr>
              <a:t>Ctrl + c</a:t>
            </a:r>
            <a:r>
              <a:rPr/>
              <a:t>, затем </a:t>
            </a:r>
            <a:r>
              <a:rPr>
                <a:latin typeface="Courier"/>
              </a:rPr>
              <a:t>|</a:t>
            </a:r>
            <a:r>
              <a:rPr/>
              <a:t> (Shift + )</a:t>
            </a:r>
          </a:p>
          <a:p>
            <a:pPr lvl="0"/>
            <a:r>
              <a:rPr>
                <a:latin typeface="Courier"/>
              </a:rPr>
              <a:t>C-c C-|</a:t>
            </a:r>
            <a:r>
              <a:rPr/>
              <a:t> — </a:t>
            </a:r>
            <a:r>
              <a:rPr>
                <a:latin typeface="Courier"/>
              </a:rPr>
              <a:t>Ctrl + c</a:t>
            </a:r>
            <a:r>
              <a:rPr/>
              <a:t>, затем </a:t>
            </a:r>
            <a:r>
              <a:rPr>
                <a:latin typeface="Courier"/>
              </a:rPr>
              <a:t>Ctrl + Shift + \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Как поделить текущее окно на две части?</a:t>
            </a:r>
          </a:p>
          <a:p>
            <a:pPr lvl="0"/>
            <a:r>
              <a:rPr/>
              <a:t>По горизонтали (верх/низ): </a:t>
            </a:r>
            <a:r>
              <a:rPr>
                <a:latin typeface="Courier"/>
              </a:rPr>
              <a:t>C-x 2</a:t>
            </a:r>
          </a:p>
          <a:p>
            <a:pPr lvl="0"/>
            <a:r>
              <a:rPr/>
              <a:t>По вертикали (лево/право): </a:t>
            </a:r>
            <a:r>
              <a:rPr>
                <a:latin typeface="Courier"/>
              </a:rPr>
              <a:t>C-x 3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8. В каком файле хранятся настройки редактора emacs?</a:t>
            </a:r>
          </a:p>
          <a:p>
            <a:pPr lvl="0" indent="0" marL="0">
              <a:buNone/>
            </a:pPr>
            <a:r>
              <a:rPr/>
              <a:t>Настройки хранятся в файле </a:t>
            </a:r>
            <a:r>
              <a:rPr>
                <a:latin typeface="Courier"/>
              </a:rPr>
              <a:t>~/.emacs</a:t>
            </a:r>
            <a:r>
              <a:rPr/>
              <a:t> или в каталоге </a:t>
            </a:r>
            <a:r>
              <a:rPr>
                <a:latin typeface="Courier"/>
              </a:rPr>
              <a:t>~/.emacs.d/init.el</a:t>
            </a:r>
            <a:r>
              <a:rPr/>
              <a:t>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9. Какую функцию выполняет клавиша ← и можно ли её переназначить?</a:t>
            </a:r>
          </a:p>
          <a:p>
            <a:pPr lvl="0" indent="0" marL="0">
              <a:buNone/>
            </a:pPr>
            <a:r>
              <a:rPr/>
              <a:t>Клавиша </a:t>
            </a:r>
            <a:r>
              <a:rPr>
                <a:latin typeface="Courier"/>
              </a:rPr>
              <a:t>←</a:t>
            </a:r>
            <a:r>
              <a:rPr/>
              <a:t> (влево) перемещает курсор на один символ влево. Да, можно переназначить через </a:t>
            </a:r>
            <a:r>
              <a:rPr>
                <a:latin typeface="Courier"/>
              </a:rPr>
              <a:t>global-set-key</a:t>
            </a:r>
            <a:r>
              <a:rPr/>
              <a:t> в конфигурационном файле.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10. Какой редактор вам показался удобнее в работе vi или emacs? Поясните почему.</a:t>
            </a:r>
          </a:p>
          <a:p>
            <a:pPr lvl="0" indent="0" marL="0">
              <a:buNone/>
            </a:pPr>
            <a:r>
              <a:rPr/>
              <a:t>Emacs удобнее для повседневной работы благодаря графическому интерфейсу, меню и большому количеству расширений. vi удобнее при работе в консоли и на удалённых серверах, так как он есть в любой Unix-системе по умолчанию.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Вывод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познакомились с операционной системой Linux и получили практические навыки работы с редактором Emacs.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№11</dc:title>
  <dc:creator>Иванова Анастасия Сергеевна</dc:creator>
  <cp:keywords/>
  <dcterms:created xsi:type="dcterms:W3CDTF">2026-04-25T14:16:21Z</dcterms:created>
  <dcterms:modified xsi:type="dcterms:W3CDTF">2026-04-25T14:16:21Z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2026-04-25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 курсу: Архитектура компьютера и операционные системы</vt:lpwstr>
  </property>
  <property fmtid="{D5CDD505-2E9C-101B-9397-08002B2CF9AE}" pid="16" name="toc-title">
    <vt:lpwstr>Содержание</vt:lpwstr>
  </property>
</Properties>
</file>