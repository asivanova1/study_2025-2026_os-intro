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Программирование в командном процессоре ОС UNIX. Ветвления и циклы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Ветвления и циклы – основа алгоритмизации в командных оболочках UNIX</a:t>
            </a:r>
          </a:p>
          <a:p>
            <a:pPr lvl="0"/>
            <a:r>
              <a:rPr/>
              <a:t>Позволяют создавать гибкие скрипты для автоматизации административных задач</a:t>
            </a:r>
          </a:p>
          <a:p>
            <a:pPr lvl="0"/>
            <a:r>
              <a:rPr/>
              <a:t>Умение обрабатывать ключи командной строки (</a:t>
            </a:r>
            <a:r>
              <a:rPr>
                <a:latin typeface="Courier"/>
              </a:rPr>
              <a:t>getopts</a:t>
            </a:r>
            <a:r>
              <a:rPr/>
              <a:t>) необходимо для профессиональных скриптов</a:t>
            </a:r>
          </a:p>
          <a:p>
            <a:pPr lvl="0"/>
            <a:r>
              <a:rPr/>
              <a:t>Анализ кода возврата программ и работа с </a:t>
            </a:r>
            <a:r>
              <a:rPr>
                <a:latin typeface="Courier"/>
              </a:rPr>
              <a:t>find</a:t>
            </a:r>
            <a:r>
              <a:rPr/>
              <a:t>/</a:t>
            </a:r>
            <a:r>
              <a:rPr>
                <a:latin typeface="Courier"/>
              </a:rPr>
              <a:t>tar</a:t>
            </a:r>
            <a:r>
              <a:rPr/>
              <a:t> расширяют возможности shell-программирования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- Командный процессор bash - Управляющие конструкции: </a:t>
            </a:r>
            <a:r>
              <a:rPr>
                <a:latin typeface="Courier"/>
              </a:rPr>
              <a:t>if</a:t>
            </a:r>
            <a:r>
              <a:rPr/>
              <a:t>, </a:t>
            </a:r>
            <a:r>
              <a:rPr>
                <a:latin typeface="Courier"/>
              </a:rPr>
              <a:t>case</a:t>
            </a:r>
            <a:r>
              <a:rPr/>
              <a:t>, </a:t>
            </a:r>
            <a:r>
              <a:rPr>
                <a:latin typeface="Courier"/>
              </a:rPr>
              <a:t>for</a:t>
            </a:r>
            <a:r>
              <a:rPr/>
              <a:t>, </a:t>
            </a:r>
            <a:r>
              <a:rPr>
                <a:latin typeface="Courier"/>
              </a:rPr>
              <a:t>while</a:t>
            </a:r>
            <a:r>
              <a:rPr/>
              <a:t>, </a:t>
            </a:r>
            <a:r>
              <a:rPr>
                <a:latin typeface="Courier"/>
              </a:rPr>
              <a:t>until</a:t>
            </a:r>
            <a:r>
              <a:rPr/>
              <a:t> - Механизмы обработки аргументов и кодов завершения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- Разработка скриптов с использованием </a:t>
            </a:r>
            <a:r>
              <a:rPr>
                <a:latin typeface="Courier"/>
              </a:rPr>
              <a:t>getopts</a:t>
            </a:r>
            <a:r>
              <a:rPr/>
              <a:t> - Создание программы на C и анализ её кода завершения в оболочке - Циклическое создание и удаление файлов - Фильтрация файлов по времени изменения и архивация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основы программирования в оболочке ОС UNIX</a:t>
            </a:r>
          </a:p>
          <a:p>
            <a:pPr lvl="0"/>
            <a:r>
              <a:rPr/>
              <a:t>Научиться писать более сложные командные файлы с использованием логических управляющих конструкций и циклов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Задание 1. Скрипт с ключами getopts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Разработаем скрипт </a:t>
            </a:r>
            <a:r>
              <a:rPr>
                <a:latin typeface="Courier"/>
              </a:rPr>
              <a:t>search.sh</a:t>
            </a:r>
            <a:r>
              <a:rPr/>
              <a:t>, который анализирует командную строку с ключами </a:t>
            </a:r>
            <a:r>
              <a:rPr>
                <a:latin typeface="Courier"/>
              </a:rPr>
              <a:t>-inputfile</a:t>
            </a:r>
            <a:r>
              <a:rPr/>
              <a:t>, </a:t>
            </a:r>
            <a:r>
              <a:rPr>
                <a:latin typeface="Courier"/>
              </a:rPr>
              <a:t>-outputfile</a:t>
            </a:r>
            <a:r>
              <a:rPr/>
              <a:t>, </a:t>
            </a:r>
            <a:r>
              <a:rPr>
                <a:latin typeface="Courier"/>
              </a:rPr>
              <a:t>-p</a:t>
            </a:r>
            <a:r>
              <a:rPr/>
              <a:t>, </a:t>
            </a:r>
            <a:r>
              <a:rPr>
                <a:latin typeface="Courier"/>
              </a:rPr>
              <a:t>-C</a:t>
            </a:r>
            <a:r>
              <a:rPr/>
              <a:t>, </a:t>
            </a:r>
            <a:r>
              <a:rPr>
                <a:latin typeface="Courier"/>
              </a:rPr>
              <a:t>-n</a:t>
            </a:r>
            <a:r>
              <a:rPr/>
              <a:t> и выполняет поиск строк в указанном файле.</a:t>
            </a:r>
          </a:p>
          <a:p>
            <a:pPr lvl="0" indent="-342900" marL="342900">
              <a:buAutoNum type="arabicPeriod"/>
            </a:pPr>
            <a:r>
              <a:rPr/>
              <a:t>Создадим файл скрипта </a:t>
            </a:r>
            <a:r>
              <a:rPr>
                <a:latin typeface="Courier"/>
              </a:rPr>
              <a:t>search.sh</a:t>
            </a:r>
            <a:r>
              <a:rPr/>
              <a:t> (рис. 2.1):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08100"/>
            <a:ext cx="51054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файла search.sh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Листинг скрипта </a:t>
            </a:r>
            <a:r>
              <a:rPr>
                <a:latin typeface="Courier"/>
              </a:rPr>
              <a:t>search.sh</a:t>
            </a:r>
            <a:r>
              <a:rPr/>
              <a:t> (рис. 2.2):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br/>
            <a:r>
              <a:rPr>
                <a:solidFill>
                  <a:srgbClr val="19177C"/>
                </a:solidFill>
                <a:latin typeface="Courier"/>
              </a:rPr>
              <a:t>input_file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output_file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pattern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case_sensitive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"no"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number_lines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"no"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usage()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"Использование: </a:t>
            </a:r>
            <a:r>
              <a:rPr>
                <a:solidFill>
                  <a:srgbClr val="19177C"/>
                </a:solidFill>
                <a:latin typeface="Courier"/>
              </a:rPr>
              <a:t>$0</a:t>
            </a:r>
            <a:r>
              <a:rPr>
                <a:solidFill>
                  <a:srgbClr val="4070A0"/>
                </a:solidFill>
                <a:latin typeface="Courier"/>
              </a:rPr>
              <a:t> -inputfile &lt;файл&gt; -p &lt;шаблон&gt; [-outputfile &lt;файл&gt;] [-C] [-n]"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getopts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":i:o:p:Cn"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opt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$opt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B6688"/>
                </a:solidFill>
                <a:latin typeface="Courier"/>
              </a:rPr>
              <a:t>i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input_file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$OPTARG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B6688"/>
                </a:solidFill>
                <a:latin typeface="Courier"/>
              </a:rPr>
              <a:t>o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output_file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$OPTARG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B6688"/>
                </a:solidFill>
                <a:latin typeface="Courier"/>
              </a:rPr>
              <a:t>p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pattern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$OPTARG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B6688"/>
                </a:solidFill>
                <a:latin typeface="Courier"/>
              </a:rPr>
              <a:t>C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case_sensitive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"yes"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B6688"/>
                </a:solidFill>
                <a:latin typeface="Courier"/>
              </a:rPr>
              <a:t>n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number_lines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"yes"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\?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"Неизвестный параметр: -</a:t>
            </a:r>
            <a:r>
              <a:rPr>
                <a:solidFill>
                  <a:srgbClr val="19177C"/>
                </a:solidFill>
                <a:latin typeface="Courier"/>
              </a:rPr>
              <a:t>$OPTARG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&gt;&amp;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usage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B6688"/>
                </a:solidFill>
                <a:latin typeface="Courier"/>
              </a:rPr>
              <a:t>: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"Параметр -</a:t>
            </a:r>
            <a:r>
              <a:rPr>
                <a:solidFill>
                  <a:srgbClr val="19177C"/>
                </a:solidFill>
                <a:latin typeface="Courier"/>
              </a:rPr>
              <a:t>$OPTARG</a:t>
            </a:r>
            <a:r>
              <a:rPr>
                <a:solidFill>
                  <a:srgbClr val="4070A0"/>
                </a:solidFill>
                <a:latin typeface="Courier"/>
              </a:rPr>
              <a:t> требует аргумента"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&gt;&amp;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usage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esac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-z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$input_file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||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-z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$pattern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"Ошибка: необходимо указать -inputfile и -p"</a:t>
            </a:r>
            <a:br/>
            <a:r>
              <a:rPr>
                <a:latin typeface="Courier"/>
              </a:rPr>
              <a:t>    usage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!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$input_file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"Ошибка: файл </a:t>
            </a:r>
            <a:r>
              <a:rPr>
                <a:solidFill>
                  <a:srgbClr val="19177C"/>
                </a:solidFill>
                <a:latin typeface="Courier"/>
              </a:rPr>
              <a:t>$input_file</a:t>
            </a:r>
            <a:r>
              <a:rPr>
                <a:solidFill>
                  <a:srgbClr val="4070A0"/>
                </a:solidFill>
                <a:latin typeface="Courier"/>
              </a:rPr>
              <a:t> не существует"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>
                <a:solidFill>
                  <a:srgbClr val="19177C"/>
                </a:solidFill>
                <a:latin typeface="Courier"/>
              </a:rPr>
              <a:t>grep_opts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$case_sensitive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"yes"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grep_opts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"-i"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$number_lines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"yes"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grep_opts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$grep_opts</a:t>
            </a:r>
            <a:r>
              <a:rPr>
                <a:solidFill>
                  <a:srgbClr val="4070A0"/>
                </a:solidFill>
                <a:latin typeface="Courier"/>
              </a:rPr>
              <a:t> -n"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$output_file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$grep_opts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$pattern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$input_file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$output_file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"Результат сохранён в </a:t>
            </a:r>
            <a:r>
              <a:rPr>
                <a:solidFill>
                  <a:srgbClr val="19177C"/>
                </a:solidFill>
                <a:latin typeface="Courier"/>
              </a:rPr>
              <a:t>$output_file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$grep_opts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$pattern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$input_file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6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Листинг search.sh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Сделаем файл исполняемым и подготовим тестовый файл </a:t>
            </a:r>
            <a:r>
              <a:rPr>
                <a:latin typeface="Courier"/>
              </a:rPr>
              <a:t>test.txt</a:t>
            </a:r>
            <a:r>
              <a:rPr/>
              <a:t> (рис. 2.3):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world"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test.txt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again"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test.txt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upper"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test.txt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"goodbye"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test.txt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52600"/>
            <a:ext cx="5105400" cy="78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test.txt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Запустим скрипт с различными ключами (рис. 2.4):</a:t>
            </a:r>
          </a:p>
          <a:p>
            <a:pPr lvl="0" indent="0">
              <a:buNone/>
            </a:pPr>
            <a:r>
              <a:rPr>
                <a:latin typeface="Courier"/>
              </a:rPr>
              <a:t>./search.sh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test.txt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hello </a:t>
            </a:r>
            <a:r>
              <a:rPr>
                <a:solidFill>
                  <a:srgbClr val="7D9029"/>
                </a:solidFill>
                <a:latin typeface="Courier"/>
              </a:rPr>
              <a:t>-n</a:t>
            </a:r>
            <a:br/>
            <a:r>
              <a:rPr>
                <a:latin typeface="Courier"/>
              </a:rPr>
              <a:t>./search.sh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test.txt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hello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-n</a:t>
            </a:r>
            <a:br/>
            <a:r>
              <a:rPr>
                <a:latin typeface="Courier"/>
              </a:rPr>
              <a:t>./search.sh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test.txt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hello </a:t>
            </a:r>
            <a:r>
              <a:rPr>
                <a:solidFill>
                  <a:srgbClr val="7D9029"/>
                </a:solidFill>
                <a:latin typeface="Courier"/>
              </a:rPr>
              <a:t>-n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output.txt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 output.txt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00200"/>
            <a:ext cx="5105400" cy="106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Результаты работы search.sh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 2. Программа на C и анализ кода завершения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Создадим программу на C </a:t>
            </a:r>
            <a:r>
              <a:rPr>
                <a:latin typeface="Courier"/>
              </a:rPr>
              <a:t>checknum.c</a:t>
            </a:r>
            <a:r>
              <a:rPr/>
              <a:t>, которая вводит число и возвращает код завершения в зависимости от его знака. Затем напишем скрипт, анализирующий этот код.</a:t>
            </a:r>
          </a:p>
          <a:p>
            <a:pPr lvl="0" indent="-342900" marL="342900">
              <a:buAutoNum type="arabicPeriod"/>
            </a:pPr>
            <a:r>
              <a:rPr/>
              <a:t>Листинг </a:t>
            </a:r>
            <a:r>
              <a:rPr>
                <a:latin typeface="Courier"/>
              </a:rPr>
              <a:t>checknum.c</a:t>
            </a:r>
            <a:r>
              <a:rPr/>
              <a:t> (рис. 2.5):</a:t>
            </a:r>
          </a:p>
          <a:p>
            <a:pPr lvl="0" indent="0">
              <a:buNone/>
            </a:pPr>
            <a:r>
              <a:rPr>
                <a:solidFill>
                  <a:srgbClr val="BC7A00"/>
                </a:solidFill>
                <a:latin typeface="Courier"/>
              </a:rPr>
              <a:t>#include </a:t>
            </a:r>
            <a:r>
              <a:rPr b="1">
                <a:solidFill>
                  <a:srgbClr val="008000"/>
                </a:solidFill>
                <a:latin typeface="Courier"/>
              </a:rPr>
              <a:t>&lt;stdio.h&gt;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#include </a:t>
            </a:r>
            <a:r>
              <a:rPr b="1">
                <a:solidFill>
                  <a:srgbClr val="008000"/>
                </a:solidFill>
                <a:latin typeface="Courier"/>
              </a:rPr>
              <a:t>&lt;stdlib.h&gt;</a:t>
            </a:r>
            <a:br/>
            <a:br/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main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printf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"Введите число: 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scanf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"%d"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n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printf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"Число положительное\n"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exit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printf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"Число отрицательное\n"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exit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printf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"Число равно нулю\n"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exit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08300" y="1193800"/>
            <a:ext cx="334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 checknum.c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Скомпилируем программу (рис. 2.6):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gcc</a:t>
            </a:r>
            <a:r>
              <a:rPr>
                <a:latin typeface="Courier"/>
              </a:rPr>
              <a:t> checknum.c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checknum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92300"/>
            <a:ext cx="5105400" cy="50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Компиляция checknum.c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Создадим скрипт </a:t>
            </a:r>
            <a:r>
              <a:rPr>
                <a:latin typeface="Courier"/>
              </a:rPr>
              <a:t>run_check.sh</a:t>
            </a:r>
            <a:r>
              <a:rPr/>
              <a:t> для анализа кода возврата (рис. 2.7):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latin typeface="Courier"/>
              </a:rPr>
              <a:t>./checknum</a:t>
            </a:r>
            <a:br/>
            <a:r>
              <a:rPr>
                <a:solidFill>
                  <a:srgbClr val="19177C"/>
                </a:solidFill>
                <a:latin typeface="Courier"/>
              </a:rPr>
              <a:t>status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$?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$status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B6688"/>
                </a:solidFill>
                <a:latin typeface="Courier"/>
              </a:rPr>
              <a:t>0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"Введён ноль"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B6688"/>
                </a:solidFill>
                <a:latin typeface="Courier"/>
              </a:rPr>
              <a:t>1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"Введено положительное число"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B6688"/>
                </a:solidFill>
                <a:latin typeface="Courier"/>
              </a:rPr>
              <a:t>2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"Введено отрицательное число"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"Неизвестный код завершения"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;;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esac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Листинг run_check.sh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Сделаем файл исполняем и протестируем на числах 8, -10, 0 (рис. 2.8 – 2.10):</a:t>
            </a:r>
          </a:p>
          <a:p>
            <a:pPr lvl="0" indent="0">
              <a:buNone/>
            </a:pPr>
            <a:r>
              <a:rPr>
                <a:latin typeface="Courier"/>
              </a:rPr>
              <a:t>./run_check.sh   </a:t>
            </a:r>
            <a:r>
              <a:rPr i="1">
                <a:solidFill>
                  <a:srgbClr val="60A0B0"/>
                </a:solidFill>
                <a:latin typeface="Courier"/>
              </a:rPr>
              <a:t># ввод 8</a:t>
            </a:r>
            <a:br/>
            <a:r>
              <a:rPr>
                <a:latin typeface="Courier"/>
              </a:rPr>
              <a:t>./run_check.sh   </a:t>
            </a:r>
            <a:r>
              <a:rPr i="1">
                <a:solidFill>
                  <a:srgbClr val="60A0B0"/>
                </a:solidFill>
                <a:latin typeface="Courier"/>
              </a:rPr>
              <a:t># ввод -10</a:t>
            </a:r>
            <a:br/>
            <a:r>
              <a:rPr>
                <a:latin typeface="Courier"/>
              </a:rPr>
              <a:t>./run_check.sh   </a:t>
            </a:r>
            <a:r>
              <a:rPr i="1">
                <a:solidFill>
                  <a:srgbClr val="60A0B0"/>
                </a:solidFill>
                <a:latin typeface="Courier"/>
              </a:rPr>
              <a:t># ввод 0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8229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для 8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16100"/>
            <a:ext cx="82296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для -10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для 0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 3. Создание и удаление нумерованных файлов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Разработаем скрипт </a:t>
            </a:r>
            <a:r>
              <a:rPr>
                <a:latin typeface="Courier"/>
              </a:rPr>
              <a:t>file_manager.sh</a:t>
            </a:r>
            <a:r>
              <a:rPr/>
              <a:t>, который создаёт или удаляет файлы </a:t>
            </a:r>
            <a:r>
              <a:rPr>
                <a:latin typeface="Courier"/>
              </a:rPr>
              <a:t>1.tmp</a:t>
            </a:r>
            <a:r>
              <a:rPr/>
              <a:t>, </a:t>
            </a:r>
            <a:r>
              <a:rPr>
                <a:latin typeface="Courier"/>
              </a:rPr>
              <a:t>2.tmp</a:t>
            </a:r>
            <a:r>
              <a:rPr/>
              <a:t>, …, </a:t>
            </a:r>
            <a:r>
              <a:rPr>
                <a:latin typeface="Courier"/>
              </a:rPr>
              <a:t>N.tmp</a:t>
            </a:r>
            <a:r>
              <a:rPr/>
              <a:t> в зависимости от наличия ключа </a:t>
            </a:r>
            <a:r>
              <a:rPr>
                <a:latin typeface="Courier"/>
              </a:rPr>
              <a:t>-d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Листинг </a:t>
            </a:r>
            <a:r>
              <a:rPr>
                <a:latin typeface="Courier"/>
              </a:rPr>
              <a:t>file_manager.sh</a:t>
            </a:r>
            <a:r>
              <a:rPr/>
              <a:t> (рис. 2.11):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$#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-lt</a:t>
            </a:r>
            <a:r>
              <a:rPr>
                <a:latin typeface="Courier"/>
              </a:rPr>
              <a:t> 1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"Использование: </a:t>
            </a:r>
            <a:r>
              <a:rPr>
                <a:solidFill>
                  <a:srgbClr val="19177C"/>
                </a:solidFill>
                <a:latin typeface="Courier"/>
              </a:rPr>
              <a:t>$0</a:t>
            </a:r>
            <a:r>
              <a:rPr>
                <a:solidFill>
                  <a:srgbClr val="4070A0"/>
                </a:solidFill>
                <a:latin typeface="Courier"/>
              </a:rPr>
              <a:t> [-d] N"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 без -d: создаёт файлы 1.tmp .. N.tmp"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 с -d: удаляет файлы 1.tmp .. N.tmp"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"-d"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delete_mode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$2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delete_mode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! </a:t>
            </a:r>
            <a:r>
              <a:rPr b="1">
                <a:solidFill>
                  <a:srgbClr val="007020"/>
                </a:solidFill>
                <a:latin typeface="Courier"/>
              </a:rPr>
              <a:t>[[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$N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=~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^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BB6688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BB6688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solidFill>
                  <a:srgbClr val="BC7A00"/>
                </a:solidFill>
                <a:latin typeface="Courier"/>
              </a:rPr>
              <a:t>+</a:t>
            </a:r>
            <a:r>
              <a:rPr>
                <a:solidFill>
                  <a:srgbClr val="666666"/>
                </a:solidFill>
                <a:latin typeface="Courier"/>
              </a:rPr>
              <a:t>$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]];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"Ошибка: N должно быть числом"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$delete_mode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-eq</a:t>
            </a:r>
            <a:r>
              <a:rPr>
                <a:latin typeface="Courier"/>
              </a:rPr>
              <a:t> 1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seq</a:t>
            </a:r>
            <a:r>
              <a:rPr>
                <a:latin typeface="Courier"/>
              </a:rPr>
              <a:t> 1 </a:t>
            </a:r>
            <a:r>
              <a:rPr>
                <a:solidFill>
                  <a:srgbClr val="19177C"/>
                </a:solidFill>
                <a:latin typeface="Courier"/>
              </a:rPr>
              <a:t>$N)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>
                <a:solidFill>
                  <a:srgbClr val="4070A0"/>
                </a:solidFill>
                <a:latin typeface="Courier"/>
              </a:rPr>
              <a:t>.tmp"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6287E"/>
                </a:solidFill>
                <a:latin typeface="Courier"/>
              </a:rPr>
              <a:t>rm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>
                <a:solidFill>
                  <a:srgbClr val="4070A0"/>
                </a:solidFill>
                <a:latin typeface="Courier"/>
              </a:rPr>
              <a:t>.tmp"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"Удалён файл 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>
                <a:solidFill>
                  <a:srgbClr val="4070A0"/>
                </a:solidFill>
                <a:latin typeface="Courier"/>
              </a:rPr>
              <a:t>.tmp"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"Файл 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>
                <a:solidFill>
                  <a:srgbClr val="4070A0"/>
                </a:solidFill>
                <a:latin typeface="Courier"/>
              </a:rPr>
              <a:t>.tmp не существует"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seq</a:t>
            </a:r>
            <a:r>
              <a:rPr>
                <a:latin typeface="Courier"/>
              </a:rPr>
              <a:t> 1 </a:t>
            </a:r>
            <a:r>
              <a:rPr>
                <a:solidFill>
                  <a:srgbClr val="19177C"/>
                </a:solidFill>
                <a:latin typeface="Courier"/>
              </a:rPr>
              <a:t>$N)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touch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>
                <a:solidFill>
                  <a:srgbClr val="4070A0"/>
                </a:solidFill>
                <a:latin typeface="Courier"/>
              </a:rPr>
              <a:t>.tmp"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"Создан файл </a:t>
            </a:r>
            <a:r>
              <a:rPr>
                <a:solidFill>
                  <a:srgbClr val="19177C"/>
                </a:solidFill>
                <a:latin typeface="Courier"/>
              </a:rPr>
              <a:t>$i</a:t>
            </a:r>
            <a:r>
              <a:rPr>
                <a:solidFill>
                  <a:srgbClr val="4070A0"/>
                </a:solidFill>
                <a:latin typeface="Courier"/>
              </a:rPr>
              <a:t>.tmp"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58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Листинг file_manager.sh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Сделаем файл исполняемым и создадим 5 файлов (рис. 2.12):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chmod</a:t>
            </a:r>
            <a:r>
              <a:rPr>
                <a:latin typeface="Courier"/>
              </a:rPr>
              <a:t> +x file_manager.sh</a:t>
            </a:r>
            <a:br/>
            <a:r>
              <a:rPr>
                <a:latin typeface="Courier"/>
              </a:rPr>
              <a:t>./file_manager.sh 5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.tmp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46200"/>
            <a:ext cx="5105400" cy="157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файлов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Удалим созданные файлы (рис. 2.13):</a:t>
            </a:r>
          </a:p>
          <a:p>
            <a:pPr lvl="0" indent="0">
              <a:buNone/>
            </a:pPr>
            <a:r>
              <a:rPr>
                <a:latin typeface="Courier"/>
              </a:rPr>
              <a:t>./file_manager.sh </a:t>
            </a:r>
            <a:r>
              <a:rPr>
                <a:solidFill>
                  <a:srgbClr val="7D9029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5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.tmp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85900"/>
            <a:ext cx="51054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Удаление файлов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 4. Архивация свежих файлов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Разработаем скрипт </a:t>
            </a:r>
            <a:r>
              <a:rPr>
                <a:latin typeface="Courier"/>
              </a:rPr>
              <a:t>backup_recent.sh</a:t>
            </a:r>
            <a:r>
              <a:rPr/>
              <a:t>, который архивирует только файлы, изменённые за последние 7 дней в указанной директории.</a:t>
            </a:r>
          </a:p>
          <a:p>
            <a:pPr lvl="0" indent="-342900" marL="342900">
              <a:buAutoNum type="arabicPeriod"/>
            </a:pPr>
            <a:r>
              <a:rPr/>
              <a:t>Листинг </a:t>
            </a:r>
            <a:r>
              <a:rPr>
                <a:latin typeface="Courier"/>
              </a:rPr>
              <a:t>backup_recent.sh</a:t>
            </a:r>
            <a:r>
              <a:rPr/>
              <a:t> (рис. 2.14):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$#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-ne</a:t>
            </a:r>
            <a:r>
              <a:rPr>
                <a:latin typeface="Courier"/>
              </a:rPr>
              <a:t> 1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"Использование: </a:t>
            </a:r>
            <a:r>
              <a:rPr>
                <a:solidFill>
                  <a:srgbClr val="19177C"/>
                </a:solidFill>
                <a:latin typeface="Courier"/>
              </a:rPr>
              <a:t>$0</a:t>
            </a:r>
            <a:r>
              <a:rPr>
                <a:solidFill>
                  <a:srgbClr val="4070A0"/>
                </a:solidFill>
                <a:latin typeface="Courier"/>
              </a:rPr>
              <a:t> &lt;директория&gt;"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>
                <a:solidFill>
                  <a:srgbClr val="19177C"/>
                </a:solidFill>
                <a:latin typeface="Courier"/>
              </a:rPr>
              <a:t>DIR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!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"Ошибка: директория 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 не существует"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br/>
            <a:r>
              <a:rPr>
                <a:solidFill>
                  <a:srgbClr val="19177C"/>
                </a:solidFill>
                <a:latin typeface="Courier"/>
              </a:rPr>
              <a:t>BACKUP_NAME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"backup_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date</a:t>
            </a:r>
            <a:r>
              <a:rPr>
                <a:latin typeface="Courier"/>
              </a:rPr>
              <a:t> +%Y%m%d_%H%M%S</a:t>
            </a:r>
            <a:r>
              <a:rPr>
                <a:solidFill>
                  <a:srgbClr val="19177C"/>
                </a:solidFill>
                <a:latin typeface="Courier"/>
              </a:rPr>
              <a:t>)</a:t>
            </a:r>
            <a:r>
              <a:rPr>
                <a:solidFill>
                  <a:srgbClr val="4070A0"/>
                </a:solidFill>
                <a:latin typeface="Courier"/>
              </a:rPr>
              <a:t>.tar.gz"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find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-type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7D9029"/>
                </a:solidFill>
                <a:latin typeface="Courier"/>
              </a:rPr>
              <a:t>-mtime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-7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-print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tar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-czf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$BACKUP_NAME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"Архив создан: </a:t>
            </a:r>
            <a:r>
              <a:rPr>
                <a:solidFill>
                  <a:srgbClr val="19177C"/>
                </a:solidFill>
                <a:latin typeface="Courier"/>
              </a:rPr>
              <a:t>$BACKUP_NAME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87600" y="1193800"/>
            <a:ext cx="436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Листинг backup_recent.sh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Сделаем файл исполняемым и подготовим тестовую директорию с файлами разной давности (рис. 2.15):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testdir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touch</a:t>
            </a:r>
            <a:r>
              <a:rPr>
                <a:latin typeface="Courier"/>
              </a:rPr>
              <a:t> testdir/oldfile </a:t>
            </a:r>
            <a:r>
              <a:rPr>
                <a:solidFill>
                  <a:srgbClr val="7D9029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"10 days ago"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touch</a:t>
            </a:r>
            <a:r>
              <a:rPr>
                <a:latin typeface="Courier"/>
              </a:rPr>
              <a:t> testdir/newfile1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"test"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testdir/newfile2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01800"/>
            <a:ext cx="51054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Подготовка testdir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Запустим скрипт и проверим содержимое архива (рис. 2.16):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chmod</a:t>
            </a:r>
            <a:r>
              <a:rPr>
                <a:latin typeface="Courier"/>
              </a:rPr>
              <a:t> +x backup_recent.sh</a:t>
            </a:r>
            <a:br/>
            <a:r>
              <a:rPr>
                <a:latin typeface="Courier"/>
              </a:rPr>
              <a:t>./backup_recent.sh testdir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tar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-tzf</a:t>
            </a:r>
            <a:r>
              <a:rPr>
                <a:latin typeface="Courier"/>
              </a:rPr>
              <a:t> backup_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.tar.gz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12900"/>
            <a:ext cx="5105400" cy="105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Архивация и проверка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архиве присутствуют только </a:t>
            </a:r>
            <a:r>
              <a:rPr>
                <a:latin typeface="Courier"/>
              </a:rPr>
              <a:t>testdir/newfile1</a:t>
            </a:r>
            <a:r>
              <a:rPr/>
              <a:t> и </a:t>
            </a:r>
            <a:r>
              <a:rPr>
                <a:latin typeface="Courier"/>
              </a:rPr>
              <a:t>testdir/newfile2</a:t>
            </a:r>
            <a:r>
              <a:rPr/>
              <a:t>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Контрольные вопросы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Каково предназначение команды getopts?</a:t>
            </a:r>
            <a:br/>
            <a:r>
              <a:rPr>
                <a:latin typeface="Courier"/>
              </a:rPr>
              <a:t>getopts</a:t>
            </a:r>
            <a:r>
              <a:rPr/>
              <a:t> используется для разбора опций командной строки в скриптах bash. Позволяет обрабатывать ключи с аргументами и без них, упрощая анализ параметров.</a:t>
            </a:r>
          </a:p>
          <a:p>
            <a:pPr lvl="0" indent="-342900" marL="342900">
              <a:buAutoNum type="arabicPeriod"/>
            </a:pPr>
            <a:r>
              <a:rPr b="1"/>
              <a:t>Какое отношение метасимволы имеют к генерации имён файлов?</a:t>
            </a:r>
            <a:br/>
            <a:r>
              <a:rPr/>
              <a:t>Метасимволы (</a:t>
            </a:r>
            <a:r>
              <a:rPr>
                <a:latin typeface="Courier"/>
              </a:rPr>
              <a:t>*</a:t>
            </a:r>
            <a:r>
              <a:rPr/>
              <a:t>, </a:t>
            </a:r>
            <a:r>
              <a:rPr>
                <a:latin typeface="Courier"/>
              </a:rPr>
              <a:t>?</a:t>
            </a:r>
            <a:r>
              <a:rPr/>
              <a:t>, </a:t>
            </a:r>
            <a:r>
              <a:rPr>
                <a:latin typeface="Courier"/>
              </a:rPr>
              <a:t>[]</a:t>
            </a:r>
            <a:r>
              <a:rPr/>
              <a:t>) служат для подстановки имён файлов (globbing) – замены шаблона на список существующих файлов.</a:t>
            </a:r>
          </a:p>
          <a:p>
            <a:pPr lvl="0" indent="-342900" marL="342900">
              <a:buAutoNum type="arabicPeriod"/>
            </a:pPr>
            <a:r>
              <a:rPr b="1"/>
              <a:t>Какие операторы управления действиями вы знаете?</a:t>
            </a:r>
            <a:br/>
            <a:r>
              <a:rPr>
                <a:latin typeface="Courier"/>
              </a:rPr>
              <a:t>if</a:t>
            </a:r>
            <a:r>
              <a:rPr/>
              <a:t>, </a:t>
            </a:r>
            <a:r>
              <a:rPr>
                <a:latin typeface="Courier"/>
              </a:rPr>
              <a:t>then</a:t>
            </a:r>
            <a:r>
              <a:rPr/>
              <a:t>, </a:t>
            </a:r>
            <a:r>
              <a:rPr>
                <a:latin typeface="Courier"/>
              </a:rPr>
              <a:t>else</a:t>
            </a:r>
            <a:r>
              <a:rPr/>
              <a:t>, </a:t>
            </a:r>
            <a:r>
              <a:rPr>
                <a:latin typeface="Courier"/>
              </a:rPr>
              <a:t>elif</a:t>
            </a:r>
            <a:r>
              <a:rPr/>
              <a:t>, </a:t>
            </a:r>
            <a:r>
              <a:rPr>
                <a:latin typeface="Courier"/>
              </a:rPr>
              <a:t>fi</a:t>
            </a:r>
            <a:r>
              <a:rPr/>
              <a:t>, </a:t>
            </a:r>
            <a:r>
              <a:rPr>
                <a:latin typeface="Courier"/>
              </a:rPr>
              <a:t>case</a:t>
            </a:r>
            <a:r>
              <a:rPr/>
              <a:t>, </a:t>
            </a:r>
            <a:r>
              <a:rPr>
                <a:latin typeface="Courier"/>
              </a:rPr>
              <a:t>esac</a:t>
            </a:r>
            <a:r>
              <a:rPr/>
              <a:t>, </a:t>
            </a:r>
            <a:r>
              <a:rPr>
                <a:latin typeface="Courier"/>
              </a:rPr>
              <a:t>for</a:t>
            </a:r>
            <a:r>
              <a:rPr/>
              <a:t>, </a:t>
            </a:r>
            <a:r>
              <a:rPr>
                <a:latin typeface="Courier"/>
              </a:rPr>
              <a:t>while</a:t>
            </a:r>
            <a:r>
              <a:rPr/>
              <a:t>, </a:t>
            </a:r>
            <a:r>
              <a:rPr>
                <a:latin typeface="Courier"/>
              </a:rPr>
              <a:t>until</a:t>
            </a:r>
            <a:r>
              <a:rPr/>
              <a:t>, </a:t>
            </a:r>
            <a:r>
              <a:rPr>
                <a:latin typeface="Courier"/>
              </a:rPr>
              <a:t>break</a:t>
            </a:r>
            <a:r>
              <a:rPr/>
              <a:t>, </a:t>
            </a:r>
            <a:r>
              <a:rPr>
                <a:latin typeface="Courier"/>
              </a:rPr>
              <a:t>continue</a:t>
            </a:r>
            <a:r>
              <a:rPr/>
              <a:t>, </a:t>
            </a:r>
            <a:r>
              <a:rPr>
                <a:latin typeface="Courier"/>
              </a:rPr>
              <a:t>exit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Какие операторы используются для прерывания цикла?</a:t>
            </a:r>
            <a:br/>
            <a:r>
              <a:rPr>
                <a:latin typeface="Courier"/>
              </a:rPr>
              <a:t>break</a:t>
            </a:r>
            <a:r>
              <a:rPr/>
              <a:t> – немедленный выход из цикла, </a:t>
            </a:r>
            <a:r>
              <a:rPr>
                <a:latin typeface="Courier"/>
              </a:rPr>
              <a:t>continue</a:t>
            </a:r>
            <a:r>
              <a:rPr/>
              <a:t> – переход к следующей итерации.</a:t>
            </a:r>
          </a:p>
          <a:p>
            <a:pPr lvl="0" indent="-342900" marL="342900">
              <a:buAutoNum type="arabicPeriod"/>
            </a:pPr>
            <a:r>
              <a:rPr b="1"/>
              <a:t>Для чего нужны команды false и true?</a:t>
            </a:r>
            <a:br/>
            <a:r>
              <a:rPr>
                <a:latin typeface="Courier"/>
              </a:rPr>
              <a:t>true</a:t>
            </a:r>
            <a:r>
              <a:rPr/>
              <a:t> всегда возвращает код 0 (истина), </a:t>
            </a:r>
            <a:r>
              <a:rPr>
                <a:latin typeface="Courier"/>
              </a:rPr>
              <a:t>false</a:t>
            </a:r>
            <a:r>
              <a:rPr/>
              <a:t> – ненулевой код (ложь). Используются для организации бесконечных циклов или для задания условий.</a:t>
            </a:r>
          </a:p>
          <a:p>
            <a:pPr lvl="0" indent="-342900" marL="342900">
              <a:buAutoNum type="arabicPeriod"/>
            </a:pPr>
            <a:r>
              <a:rPr b="1"/>
              <a:t>Что означает строка </a:t>
            </a:r>
            <a:r>
              <a:rPr b="1">
                <a:latin typeface="Courier"/>
              </a:rPr>
              <a:t>if test -f man\$s/\\\$i.\\\$s</a:t>
            </a:r>
            <a:r>
              <a:rPr b="1"/>
              <a:t> в командном файле?</a:t>
            </a:r>
            <a:br/>
            <a:r>
              <a:rPr/>
              <a:t>Проверяет существование файла, имя которого формируется из переменных </a:t>
            </a:r>
            <a:r>
              <a:rPr>
                <a:latin typeface="Courier"/>
              </a:rPr>
              <a:t>$s</a:t>
            </a:r>
            <a:r>
              <a:rPr/>
              <a:t> и </a:t>
            </a:r>
            <a:r>
              <a:rPr>
                <a:latin typeface="Courier"/>
              </a:rPr>
              <a:t>$i</a:t>
            </a:r>
            <a:r>
              <a:rPr/>
              <a:t>. Обратные слеши экранируют метасимволы, чтобы они воспринимались буквально.</a:t>
            </a:r>
          </a:p>
          <a:p>
            <a:pPr lvl="0" indent="-342900" marL="342900">
              <a:buAutoNum type="arabicPeriod"/>
            </a:pPr>
            <a:r>
              <a:rPr b="1"/>
              <a:t>Объясните различие между конструкциями while и until.</a:t>
            </a:r>
            <a:br/>
            <a:r>
              <a:rPr>
                <a:latin typeface="Courier"/>
              </a:rPr>
              <a:t>while</a:t>
            </a:r>
            <a:r>
              <a:rPr/>
              <a:t> выполняет тело цикла, пока условие истинно (код возврата 0). </a:t>
            </a:r>
            <a:r>
              <a:rPr>
                <a:latin typeface="Courier"/>
              </a:rPr>
              <a:t>until</a:t>
            </a:r>
            <a:r>
              <a:rPr/>
              <a:t> – пока условие ложно (код возврата не 0). То есть </a:t>
            </a:r>
            <a:r>
              <a:rPr>
                <a:latin typeface="Courier"/>
              </a:rPr>
              <a:t>until</a:t>
            </a:r>
            <a:r>
              <a:rPr/>
              <a:t> является антиподом </a:t>
            </a:r>
            <a:r>
              <a:rPr>
                <a:latin typeface="Courier"/>
              </a:rPr>
              <a:t>while</a:t>
            </a:r>
            <a:r>
              <a:rPr/>
              <a:t>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изучили основы программирования в оболочке ОС UNIX, научились писать более сложные командные файлы с использованием логических управляющих конструкций и циклов.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№13</dc:title>
  <dc:creator>Иванова Анастасия Сергеевна</dc:creator>
  <cp:keywords/>
  <dcterms:created xsi:type="dcterms:W3CDTF">2026-05-08T19:53:31Z</dcterms:created>
  <dcterms:modified xsi:type="dcterms:W3CDTF">2026-05-08T19:53:31Z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2026-05-08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Программирование в командном процессоре ОС UNIX. Ветвления и циклы</vt:lpwstr>
  </property>
  <property fmtid="{D5CDD505-2E9C-101B-9397-08002B2CF9AE}" pid="16" name="toc-title">
    <vt:lpwstr>Содержание</vt:lpwstr>
  </property>
</Properties>
</file>