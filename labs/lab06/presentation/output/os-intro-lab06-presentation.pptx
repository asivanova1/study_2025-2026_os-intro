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 курсу: Архитектура компьютера и опреационные системы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Командная строка остаётся основным инструментом администрирования Unix-подобных систем</a:t>
            </a:r>
          </a:p>
          <a:p>
            <a:pPr lvl="0"/>
            <a:r>
              <a:rPr/>
              <a:t>Навыки работы в командной строке необходимы для эффективного взаимодействия с ОС</a:t>
            </a:r>
          </a:p>
          <a:p>
            <a:pPr lvl="0"/>
            <a:r>
              <a:rPr/>
              <a:t>Понимание базовых команд и их опций — фундамент для дальнейшего изучения системного администрирования</a:t>
            </a:r>
          </a:p>
          <a:p>
            <a:pPr lvl="0"/>
            <a:r>
              <a:rPr/>
              <a:t>Автоматизация задач и написание скриптов невозможны без уверенного владения командной строкой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Объект исследования:</a:t>
            </a:r>
            <a:r>
              <a:rPr/>
              <a:t> * Интерфейс командной строки операционной системы Linux * Командный интерпретатор shell * Файловая система Unix</a:t>
            </a:r>
          </a:p>
          <a:p>
            <a:pPr lvl="0" indent="0" marL="0">
              <a:buNone/>
            </a:pPr>
            <a:r>
              <a:rPr b="1"/>
              <a:t>Предмет исследования:</a:t>
            </a:r>
            <a:r>
              <a:rPr/>
              <a:t> * Базовые команды навигации по файловой системе * Команды управления файлами и каталогами * Справочная система man * Механизм истории команд и их модификации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взаимодействия пользователя с системой посредством командной строки.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Определим полное имя нашего домашнего каталога. Далее относительно этого каталога будем выполнять последующие упражнения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31900"/>
            <a:ext cx="51054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Перейдем в каталог /tmp (рис. 2):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78000"/>
            <a:ext cx="5105400" cy="71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2.1. Выведем на экран содержимое каталога /tmp. Для этого используем команду ls с различными опциями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Подробный список с правами доступа, владельцем, размером и датой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28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Вывод списка содержимого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Показывает все файлы, включая скрытые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Вывод всего что есть в каталоге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Добавляет символы к именам: / для каталогов, * для исполняемых, @ для ссылок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Вывод содержимого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2.2. Определим, есть ли в каталоге /var/spool подкаталог с именем cron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27200"/>
            <a:ext cx="5105400" cy="83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Поиск в каталоге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2.3. Перейдем в наш домашний каталог и выведем на экран его содержимое. Определим, кто является владельцем файлов и подкаталогов (Владельцем является asivanova1.)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93800"/>
            <a:ext cx="5105400" cy="189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Вывод содержимого домашнего каталога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3.1. В домашнем каталоге создадим новый каталог с именем newdir, и в нем же создадим новый каталог с именем morefun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28800"/>
            <a:ext cx="5105400" cy="60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Создание нового каталога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3.2. В домашнем каталоге создадим одной командой три новых каталога с именами letters, memos, misk. Затем удалим эти каталоги одной командой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65300"/>
            <a:ext cx="5105400" cy="73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Создание каталогов одной командой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 Попробуем удалить ранее созданный каталог ~/newdir командой rm. Проверим, был ли каталог удалён (Этой командой удалить каталог не получится, т.к. он пустой)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79600"/>
            <a:ext cx="5105400" cy="50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Попытка удаления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 Удалим каталог ~/newdir/morefun из домашнего каталога. Проверим, был ли каталог удалён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28800"/>
            <a:ext cx="5105400" cy="63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Удаление каталога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С помощью команды man определим, какую опцию команды ls нужно использовать для просмотра содержимое не только указанного каталога, но и подкаталогов, входящих в него, а так же позволяющий отсортировать по времени последнего изменения выводимый список содержимого каталога с развёрнутым описанием файлов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93800"/>
            <a:ext cx="5105400" cy="189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Поиск в руководстве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Используем команду man для просмотра описания команд(cd, pwd, mkdir, rmdir, rm)</a:t>
            </a:r>
          </a:p>
        </p:txBody>
      </p:sp>
      <p:pic>
        <p:nvPicPr>
          <p:cNvPr descr="image/manc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30200"/>
            <a:ext cx="5105400" cy="361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Поиск в руководстве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pwd:</a:t>
            </a:r>
          </a:p>
          <a:p>
            <a:pPr lvl="0" indent="0" marL="0">
              <a:buNone/>
            </a:pPr>
            <a:r>
              <a:rPr/>
              <a:t>Назначение: print name of current/working directory (выводит имя текущего/рабочего каталога).</a:t>
            </a:r>
          </a:p>
          <a:p>
            <a:pPr lvl="0" indent="0" marL="0">
              <a:buNone/>
            </a:pPr>
            <a:r>
              <a:rPr/>
              <a:t>Основные опции:</a:t>
            </a:r>
          </a:p>
          <a:p>
            <a:pPr lvl="0" indent="0" marL="0">
              <a:buNone/>
            </a:pPr>
            <a:r>
              <a:rPr/>
              <a:t>-L (–logical): использовать путь из переменной окружения PWD, даже если он содержит символические ссылки.</a:t>
            </a:r>
          </a:p>
          <a:p>
            <a:pPr lvl="0" indent="0" marL="0">
              <a:buNone/>
            </a:pPr>
            <a:r>
              <a:rPr/>
              <a:t>-P (–physical): разрешать все символические ссылки и выводить физический (абсолютный) путь. Если опция не указана, подразумевается использование -P.</a:t>
            </a:r>
          </a:p>
        </p:txBody>
      </p:sp>
      <p:pic>
        <p:nvPicPr>
          <p:cNvPr descr="image/manpw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79400"/>
            <a:ext cx="5105400" cy="372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Поиск в руководстве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mkdir:</a:t>
            </a:r>
          </a:p>
          <a:p>
            <a:pPr lvl="0" indent="0" marL="0">
              <a:buNone/>
            </a:pPr>
            <a:r>
              <a:rPr/>
              <a:t>Назначение: make directories (создавать каталоги).</a:t>
            </a:r>
          </a:p>
          <a:p>
            <a:pPr lvl="0" indent="0" marL="0">
              <a:buNone/>
            </a:pPr>
            <a:r>
              <a:rPr/>
              <a:t>Основные опции:</a:t>
            </a:r>
          </a:p>
          <a:p>
            <a:pPr lvl="0" indent="0" marL="0">
              <a:buNone/>
            </a:pPr>
            <a:r>
              <a:rPr/>
              <a:t>-m, –mode=MODE: установить права доступа для создаваемого каталога (например, mkdir -m 777 newdir).</a:t>
            </a:r>
          </a:p>
          <a:p>
            <a:pPr lvl="0" indent="0" marL="0">
              <a:buNone/>
            </a:pPr>
            <a:r>
              <a:rPr/>
              <a:t>-p, –parents: создать все каталоги по указанному пути, если они не существуют (например, mkdir -p parent/child/grandchild).</a:t>
            </a:r>
          </a:p>
          <a:p>
            <a:pPr lvl="0" indent="0" marL="0">
              <a:buNone/>
            </a:pPr>
            <a:r>
              <a:rPr/>
              <a:t>-v, –verbose: выводить сообщение о каждом создаваемом каталоге.</a:t>
            </a:r>
          </a:p>
        </p:txBody>
      </p:sp>
      <p:pic>
        <p:nvPicPr>
          <p:cNvPr descr="image/manmkdi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81000"/>
            <a:ext cx="5105400" cy="350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rmdir:</a:t>
            </a:r>
          </a:p>
          <a:p>
            <a:pPr lvl="0" indent="0" marL="0">
              <a:buNone/>
            </a:pPr>
            <a:r>
              <a:rPr/>
              <a:t>Назначение: remove empty directories (удалять пустые каталоги).</a:t>
            </a:r>
          </a:p>
          <a:p>
            <a:pPr lvl="0" indent="0" marL="0">
              <a:buNone/>
            </a:pPr>
            <a:r>
              <a:rPr/>
              <a:t>Основные опции:</a:t>
            </a:r>
          </a:p>
          <a:p>
            <a:pPr lvl="0" indent="0" marL="0">
              <a:buNone/>
            </a:pPr>
            <a:r>
              <a:rPr/>
              <a:t>-p, –parents: удалить каталог и его предков (родительские каталоги), если они станут пустыми. Например, rmdir -p a/b/c эквивалентно rmdir a/b/c; rmdir a/b; rmdir a.</a:t>
            </a:r>
          </a:p>
          <a:p>
            <a:pPr lvl="0" indent="0" marL="0">
              <a:buNone/>
            </a:pPr>
            <a:r>
              <a:rPr/>
              <a:t>–ignore-fail-on-non-empty: игнорировать ошибки, возникающие при попытке удалить непустой каталог, и не выдавать сообщение об ошибке.</a:t>
            </a:r>
          </a:p>
          <a:p>
            <a:pPr lvl="0" indent="0" marL="0">
              <a:buNone/>
            </a:pPr>
            <a:r>
              <a:rPr/>
              <a:t>-v, –verbose: выводить диагностическое сообщение для каждого обрабатываемого каталога.</a:t>
            </a:r>
          </a:p>
        </p:txBody>
      </p:sp>
      <p:pic>
        <p:nvPicPr>
          <p:cNvPr descr="image/manrmdi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81000"/>
            <a:ext cx="5105400" cy="351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Поиск в руководстве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rm:</a:t>
            </a:r>
          </a:p>
          <a:p>
            <a:pPr lvl="0" indent="0" marL="0">
              <a:buNone/>
            </a:pPr>
            <a:r>
              <a:rPr/>
              <a:t>Назначение: remove files or directories (удалять файлы или каталоги). По умолчанию каталоги не удаляются.</a:t>
            </a:r>
          </a:p>
          <a:p>
            <a:pPr lvl="0" indent="0" marL="0">
              <a:buNone/>
            </a:pPr>
            <a:r>
              <a:rPr/>
              <a:t>Основные опции:</a:t>
            </a:r>
          </a:p>
          <a:p>
            <a:pPr lvl="0" indent="0" marL="0">
              <a:buNone/>
            </a:pPr>
            <a:r>
              <a:rPr/>
              <a:t>-f, –force: игнорировать несуществующие файлы и аргументы, никогда не выводить запрос на подтверждение.</a:t>
            </a:r>
          </a:p>
          <a:p>
            <a:pPr lvl="0" indent="0" marL="0">
              <a:buNone/>
            </a:pPr>
            <a:r>
              <a:rPr/>
              <a:t>-i: выводить запрос на подтверждение перед каждым удалением.</a:t>
            </a:r>
          </a:p>
          <a:p>
            <a:pPr lvl="0" indent="0" marL="0">
              <a:buNone/>
            </a:pPr>
            <a:r>
              <a:rPr/>
              <a:t>-r, -R, –recursive: удалять каталоги и их содержимое рекурсивно. Это основная опция для удаления непустых каталогов.</a:t>
            </a:r>
          </a:p>
          <a:p>
            <a:pPr lvl="0" indent="0" marL="0">
              <a:buNone/>
            </a:pPr>
            <a:r>
              <a:rPr/>
              <a:t>-d, –dir: удалять пустые каталоги (альтернатива rmdir).</a:t>
            </a:r>
          </a:p>
          <a:p>
            <a:pPr lvl="0" indent="0" marL="0">
              <a:buNone/>
            </a:pPr>
            <a:r>
              <a:rPr/>
              <a:t>-v, –verbose: выводить пояснения того, что делается.</a:t>
            </a:r>
          </a:p>
        </p:txBody>
      </p:sp>
      <p:pic>
        <p:nvPicPr>
          <p:cNvPr descr="image/manr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7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Поиск в руководстве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6" type="arabicPeriod"/>
            </a:pPr>
            <a:r>
              <a:rPr/>
              <a:t>Используем информацию, полученную при помощи команды history, выполним модификацию и исполнение нескольких команд из буфера команд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19: Модификация команд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Контрольные вопросы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Что такое командная строка? - это текстовый интерфейс взаимодействия пользователя с операционной системой, где команды вводятся в виде текста и выполняются интерпретатором (shell).</a:t>
            </a:r>
          </a:p>
          <a:p>
            <a:pPr lvl="0" indent="-342900" marL="342900">
              <a:buAutoNum type="arabicPeriod"/>
            </a:pPr>
            <a:r>
              <a:rPr/>
              <a:t>При помощи какой команды можно определить абсолютный путь текущего каталога? - Команда </a:t>
            </a:r>
            <a:r>
              <a:rPr>
                <a:latin typeface="Courier"/>
              </a:rPr>
              <a:t>pwd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При помощи какой команды и каких опций можно определить только тип файлов и их имена в текущем каталоге? - Команда ls с опцией -F (/ - каталог; * - исполняемый файл; @ - ссылка; без символа - обычный файл).</a:t>
            </a:r>
          </a:p>
          <a:p>
            <a:pPr lvl="0" indent="-342900" marL="342900">
              <a:buAutoNum type="arabicPeriod"/>
            </a:pPr>
            <a:r>
              <a:rPr/>
              <a:t>Каким образом отобразить информацию о скрытых файлах? - Команда ls с опцией -a</a:t>
            </a:r>
          </a:p>
          <a:p>
            <a:pPr lvl="0" indent="-342900" marL="342900">
              <a:buAutoNum type="arabicPeriod"/>
            </a:pPr>
            <a:r>
              <a:rPr/>
              <a:t>При помощи каких команд можно удалить файл и каталог? Можно ли это сделать одной и той же командой:</a:t>
            </a:r>
          </a:p>
          <a:p>
            <a:pPr lvl="0"/>
            <a:r>
              <a:rPr/>
              <a:t>Удаление файла: rm file.txt</a:t>
            </a:r>
          </a:p>
          <a:p>
            <a:pPr lvl="0"/>
            <a:r>
              <a:rPr/>
              <a:t>Удаление пустого каталога: rmdir dir/ или rm -d dir/</a:t>
            </a:r>
          </a:p>
          <a:p>
            <a:pPr lvl="0"/>
            <a:r>
              <a:rPr/>
              <a:t>Удаление непустого каталога: rm -r dir/</a:t>
            </a:r>
          </a:p>
          <a:p>
            <a:pPr lvl="0"/>
            <a:r>
              <a:rPr/>
              <a:t>Одной командой: rm -r old_project (удаляет папку со всем содержимым)</a:t>
            </a:r>
          </a:p>
          <a:p>
            <a:pPr lvl="0" indent="-342900" marL="342900">
              <a:buAutoNum startAt="6" type="arabicPeriod"/>
            </a:pPr>
            <a:r>
              <a:rPr/>
              <a:t>Каким образом можно вывести информацию о последних выполненных пользователем командах? работы? - Команда history выводит список ранее выполненных команд с номерами.</a:t>
            </a:r>
          </a:p>
          <a:p>
            <a:pPr lvl="0" indent="-342900" marL="342900">
              <a:buAutoNum startAt="6" type="arabicPeriod"/>
            </a:pPr>
            <a:r>
              <a:rPr/>
              <a:t>Как воспользоваться историей команд для их модифицированного выполнения:</a:t>
            </a:r>
          </a:p>
          <a:p>
            <a:pPr lvl="0"/>
            <a:r>
              <a:rPr/>
              <a:t>!5 — выполнить команду под номером 5</a:t>
            </a:r>
          </a:p>
          <a:p>
            <a:pPr lvl="0"/>
            <a:r>
              <a:rPr/>
              <a:t>!! — выполнить последнюю команду</a:t>
            </a:r>
          </a:p>
          <a:p>
            <a:pPr lvl="0"/>
            <a:r>
              <a:rPr/>
              <a:t>!3:s/ls/cd — заменить в команде №3 ls на cd и выполнить</a:t>
            </a:r>
          </a:p>
          <a:p>
            <a:pPr lvl="0" indent="-342900" marL="342900">
              <a:buAutoNum startAt="8" type="arabicPeriod"/>
            </a:pPr>
            <a:r>
              <a:rPr/>
              <a:t>Приведите примеры запуска нескольких команд в одной строке - cd /tmp &amp;&amp; ls -l # вторая выполняется при успехе первой; mkdir test ; cd test # последовательное выполнение.</a:t>
            </a:r>
          </a:p>
          <a:p>
            <a:pPr lvl="0" indent="-342900" marL="342900">
              <a:buAutoNum startAt="8" type="arabicPeriod"/>
            </a:pPr>
            <a:r>
              <a:rPr/>
              <a:t>Дайте определение и приведите примера символов экранирования - это способ отменить специальное значение символа, чтобы интерпретировать его как обычный текст. Основной символ экранирования — обратный слеш .</a:t>
            </a:r>
          </a:p>
          <a:p>
            <a:pPr lvl="0" indent="-342900" marL="342900">
              <a:buAutoNum startAt="8" type="arabicPeriod"/>
            </a:pPr>
            <a:r>
              <a:rPr/>
              <a:t>Охарактеризуйте вывод информации на экран после выполнения команды ls с опцией l - Команда ls -l выводит подробную информацию в виде таблицы.</a:t>
            </a:r>
          </a:p>
          <a:p>
            <a:pPr lvl="0" indent="-342900" marL="342900">
              <a:buAutoNum startAt="8" type="arabicPeriod"/>
            </a:pPr>
            <a:r>
              <a:rPr/>
              <a:t>Что такое относительный путь к файлу? Приведите примеры использования относительного и абсолютного пути при выполнении какой-либо команды:</a:t>
            </a:r>
          </a:p>
          <a:p>
            <a:pPr lvl="0"/>
            <a:r>
              <a:rPr/>
              <a:t>Абсолютный путь — полный путь от корневого каталога / (ls /home/anastasia/Documents/file.txt)</a:t>
            </a:r>
          </a:p>
          <a:p>
            <a:pPr lvl="0"/>
            <a:r>
              <a:rPr/>
              <a:t>Относительный путь — путь относительно текущего каталога (если текущий каталог /home/anastasia) (ls Documents/file.txt).</a:t>
            </a:r>
          </a:p>
          <a:p>
            <a:pPr lvl="0" indent="-342900" marL="342900">
              <a:buAutoNum startAt="12" type="arabicPeriod"/>
            </a:pPr>
            <a:r>
              <a:rPr/>
              <a:t>Как получить информацию об интересующей вас команде? - С помощью команды man.</a:t>
            </a:r>
          </a:p>
          <a:p>
            <a:pPr lvl="0" indent="-342900" marL="342900">
              <a:buAutoNum startAt="12" type="arabicPeriod"/>
            </a:pPr>
            <a:r>
              <a:rPr/>
              <a:t>Какая клавиша или комбинация клавиш служит для автоматического дополнения вводимых команд? - Клавиша Tab. При вводе начала команды или пути нажатие Tab автоматически дополняет ввод или показывает возможные варианты.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приобрели практические навыки взаимодействия пользователя с системой посредством командной строки.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Иванова Анастасия Сергеевна</dc:creator>
  <cp:keywords/>
  <dcterms:created xsi:type="dcterms:W3CDTF">2026-03-20T18:27:02Z</dcterms:created>
  <dcterms:modified xsi:type="dcterms:W3CDTF">2026-03-20T18:27:02Z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2026-03-20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по курсу: Архитектура компьютера и опреационные системы</vt:lpwstr>
  </property>
  <property fmtid="{D5CDD505-2E9C-101B-9397-08002B2CF9AE}" pid="16" name="toc-title">
    <vt:lpwstr>Содержание</vt:lpwstr>
  </property>
</Properties>
</file>