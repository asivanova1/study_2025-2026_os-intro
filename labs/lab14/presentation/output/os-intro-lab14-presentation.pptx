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4" Type="http://schemas.openxmlformats.org/officeDocument/2006/relationships/viewProps" Target="viewProps.xml" /><Relationship Id="rId4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6" Type="http://schemas.openxmlformats.org/officeDocument/2006/relationships/tableStyles" Target="tableStyles.xml" /><Relationship Id="rId4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132250427@rudn.ru" TargetMode="Externa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№14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Программирование в командном процессоре ОС UNIX. Расширенное программирование</a:t>
            </a:r>
            <a:br/>
            <a:br/>
            <a:r>
              <a:rPr/>
              <a:t>Иванова Анастасия Сергеевна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2026-05-12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Иванова Анастасия Сергеевна</a:t>
            </a:r>
          </a:p>
          <a:p>
            <a:pPr lvl="0"/>
            <a:r>
              <a:rPr/>
              <a:t>1 курс группа НКАбд-07-25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1132250427@rudn.ru</a:t>
            </a:r>
          </a:p>
        </p:txBody>
      </p:sp>
      <p:pic>
        <p:nvPicPr>
          <p:cNvPr descr="./image/m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Вводная часть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 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Расширенное программирование в bash позволяет решать сложные задачи автоматизации</a:t>
            </a:r>
          </a:p>
          <a:p>
            <a:pPr lvl="0"/>
            <a:r>
              <a:rPr/>
              <a:t>Механизмы синхронизации процессов необходимы при разработке многопоточных скриптов</a:t>
            </a:r>
          </a:p>
          <a:p>
            <a:pPr lvl="0"/>
            <a:r>
              <a:rPr/>
              <a:t>Создание аналогов системных утилит (man) углубляет понимание работы ОС</a:t>
            </a:r>
          </a:p>
          <a:p>
            <a:pPr lvl="0"/>
            <a:r>
              <a:rPr/>
              <a:t>Генерация случайных данных полезна для тестирования и моделирования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Объект и предмет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Объект исследования:</a:t>
            </a:r>
            <a:r>
              <a:rPr/>
              <a:t> - Командный процессор bash - Механизмы синхронизации процессов (файловые блокировки) - Встроенные переменные и функции оболочки</a:t>
            </a:r>
          </a:p>
          <a:p>
            <a:pPr lvl="0" indent="0" marL="0">
              <a:buNone/>
            </a:pPr>
            <a:r>
              <a:rPr b="1"/>
              <a:t>Предмет исследования:</a:t>
            </a:r>
            <a:r>
              <a:rPr/>
              <a:t> - Реализация семафоров на уровне файловой системы - Создание аналога команды man - Генерация случайных последовательностей с использованием </a:t>
            </a:r>
            <a:r>
              <a:rPr>
                <a:latin typeface="Courier"/>
              </a:rPr>
              <a:t>$RANDOM</a:t>
            </a:r>
            <a:r>
              <a:rPr/>
              <a:t> - Взаимодействие между несколькими процессами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Изучить основы программирования в оболочке ОС UNIX</a:t>
            </a:r>
          </a:p>
          <a:p>
            <a:pPr lvl="0"/>
            <a:r>
              <a:rPr/>
              <a:t>Научиться писать более сложные командные файлы с использованием логических управляющих конструкций и циклов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Выполнение лабораторной работы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Задание 1. Реализация упрощённого механизма семафоров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Создание файла </a:t>
            </a:r>
            <a:r>
              <a:rPr b="1">
                <a:latin typeface="Courier"/>
              </a:rPr>
              <a:t>semafor.sh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nano</a:t>
            </a:r>
            <a:r>
              <a:rPr>
                <a:latin typeface="Courier"/>
              </a:rPr>
              <a:t> semafor.sh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06500"/>
            <a:ext cx="5105400" cy="185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1: Создание файла semafor.sh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Листинг </a:t>
            </a:r>
            <a:r>
              <a:rPr b="1">
                <a:latin typeface="Courier"/>
              </a:rPr>
              <a:t>semafor.sh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#!/bin/bash</a:t>
            </a:r>
            <a:br/>
            <a:br/>
            <a:r>
              <a:rPr>
                <a:solidFill>
                  <a:srgbClr val="19177C"/>
                </a:solidFill>
                <a:latin typeface="Courier"/>
              </a:rPr>
              <a:t>LOCK_FILE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"/tmp/semaphore.lock"</a:t>
            </a:r>
            <a:br/>
            <a:r>
              <a:rPr>
                <a:solidFill>
                  <a:srgbClr val="19177C"/>
                </a:solidFill>
                <a:latin typeface="Courier"/>
              </a:rPr>
              <a:t>t1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5</a:t>
            </a:r>
            <a:br/>
            <a:r>
              <a:rPr>
                <a:solidFill>
                  <a:srgbClr val="19177C"/>
                </a:solidFill>
                <a:latin typeface="Courier"/>
              </a:rPr>
              <a:t>t2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3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true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$LOCK_FILE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$LOCK_FILE</a:t>
            </a:r>
            <a:r>
              <a:rPr>
                <a:solidFill>
                  <a:srgbClr val="4070A0"/>
                </a:solidFill>
                <a:latin typeface="Courier"/>
              </a:rPr>
              <a:t>.lock"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/dev/null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$$</a:t>
            </a:r>
            <a:r>
              <a:rPr>
                <a:solidFill>
                  <a:srgbClr val="4070A0"/>
                </a:solidFill>
                <a:latin typeface="Courier"/>
              </a:rPr>
              <a:t>: ресурс захвачен, использую в течение </a:t>
            </a:r>
            <a:r>
              <a:rPr>
                <a:solidFill>
                  <a:srgbClr val="19177C"/>
                </a:solidFill>
                <a:latin typeface="Courier"/>
              </a:rPr>
              <a:t>$t2</a:t>
            </a:r>
            <a:r>
              <a:rPr>
                <a:solidFill>
                  <a:srgbClr val="4070A0"/>
                </a:solidFill>
                <a:latin typeface="Courier"/>
              </a:rPr>
              <a:t> секунд"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sleep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$t2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rm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$LOCK_FILE</a:t>
            </a:r>
            <a:r>
              <a:rPr>
                <a:solidFill>
                  <a:srgbClr val="4070A0"/>
                </a:solidFill>
                <a:latin typeface="Courier"/>
              </a:rPr>
              <a:t>.lock"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$$</a:t>
            </a:r>
            <a:r>
              <a:rPr>
                <a:solidFill>
                  <a:srgbClr val="4070A0"/>
                </a:solidFill>
                <a:latin typeface="Courier"/>
              </a:rPr>
              <a:t>: ресурс освобождён"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$$</a:t>
            </a:r>
            <a:r>
              <a:rPr>
                <a:solidFill>
                  <a:srgbClr val="4070A0"/>
                </a:solidFill>
                <a:latin typeface="Courier"/>
              </a:rPr>
              <a:t>: ресурс занят, ожидаю </a:t>
            </a:r>
            <a:r>
              <a:rPr>
                <a:solidFill>
                  <a:srgbClr val="19177C"/>
                </a:solidFill>
                <a:latin typeface="Courier"/>
              </a:rPr>
              <a:t>$t1</a:t>
            </a:r>
            <a:r>
              <a:rPr>
                <a:solidFill>
                  <a:srgbClr val="4070A0"/>
                </a:solidFill>
                <a:latin typeface="Courier"/>
              </a:rPr>
              <a:t> секунд"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sleep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$t1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done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29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2: Листинг semaphore.sh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Делаем скрипт исполняемым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chmod</a:t>
            </a:r>
            <a:r>
              <a:rPr>
                <a:latin typeface="Courier"/>
              </a:rPr>
              <a:t> +x semafor.sh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92300"/>
            <a:ext cx="5105400" cy="495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3: Изменение прав доступа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Тестирование работы семафора</a:t>
            </a:r>
          </a:p>
          <a:p>
            <a:pPr lvl="0" indent="0" marL="0">
              <a:buNone/>
            </a:pPr>
            <a:r>
              <a:rPr b="1"/>
              <a:t>Терминал 1:</a:t>
            </a:r>
          </a:p>
          <a:p>
            <a:pPr lvl="0" indent="0">
              <a:buNone/>
            </a:pPr>
            <a:r>
              <a:rPr>
                <a:latin typeface="Courier"/>
              </a:rPr>
              <a:t>./semafor.sh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68400"/>
            <a:ext cx="5105400" cy="195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4: Тестирование семафора терминал 1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Терминал 2 (фоновый запуск с перенаправлением вывода):</a:t>
            </a:r>
          </a:p>
          <a:p>
            <a:pPr lvl="0" indent="0">
              <a:buNone/>
            </a:pPr>
            <a:r>
              <a:rPr>
                <a:latin typeface="Courier"/>
              </a:rPr>
              <a:t>./semafor.sh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/dev/tty1 </a:t>
            </a:r>
            <a:r>
              <a:rPr b="1">
                <a:solidFill>
                  <a:srgbClr val="007020"/>
                </a:solidFill>
                <a:latin typeface="Courier"/>
              </a:rPr>
              <a:t>&amp;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84300"/>
            <a:ext cx="5105400" cy="151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5: Тестирование семафора терминал 2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Задание 2. Реализация команды man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Создание файла </a:t>
            </a:r>
            <a:r>
              <a:rPr b="1">
                <a:latin typeface="Courier"/>
              </a:rPr>
              <a:t>my_man.sh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nano</a:t>
            </a:r>
            <a:r>
              <a:rPr>
                <a:latin typeface="Courier"/>
              </a:rPr>
              <a:t> my_man.sh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41500"/>
            <a:ext cx="5105400" cy="58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6: Создание файла my_man.sh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Листинг </a:t>
            </a:r>
            <a:r>
              <a:rPr b="1">
                <a:latin typeface="Courier"/>
              </a:rPr>
              <a:t>my_man.sh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#!/bin/bash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$#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-ne</a:t>
            </a:r>
            <a:r>
              <a:rPr>
                <a:latin typeface="Courier"/>
              </a:rPr>
              <a:t> 1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"Использование: </a:t>
            </a:r>
            <a:r>
              <a:rPr>
                <a:solidFill>
                  <a:srgbClr val="19177C"/>
                </a:solidFill>
                <a:latin typeface="Courier"/>
              </a:rPr>
              <a:t>$0</a:t>
            </a:r>
            <a:r>
              <a:rPr>
                <a:solidFill>
                  <a:srgbClr val="4070A0"/>
                </a:solidFill>
                <a:latin typeface="Courier"/>
              </a:rPr>
              <a:t> &lt;команда&gt;"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exit</a:t>
            </a:r>
            <a:r>
              <a:rPr>
                <a:latin typeface="Courier"/>
              </a:rPr>
              <a:t> 1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br/>
            <a:r>
              <a:rPr>
                <a:solidFill>
                  <a:srgbClr val="19177C"/>
                </a:solidFill>
                <a:latin typeface="Courier"/>
              </a:rPr>
              <a:t>CMD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$1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r>
              <a:rPr>
                <a:solidFill>
                  <a:srgbClr val="19177C"/>
                </a:solidFill>
                <a:latin typeface="Courier"/>
              </a:rPr>
              <a:t>MAN_FILE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"/usr/share/man/man1/</a:t>
            </a:r>
            <a:r>
              <a:rPr>
                <a:solidFill>
                  <a:srgbClr val="19177C"/>
                </a:solidFill>
                <a:latin typeface="Courier"/>
              </a:rPr>
              <a:t>${CMD}</a:t>
            </a:r>
            <a:r>
              <a:rPr>
                <a:solidFill>
                  <a:srgbClr val="4070A0"/>
                </a:solidFill>
                <a:latin typeface="Courier"/>
              </a:rPr>
              <a:t>.1.gz"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$MAN_FILE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zcat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$MAN_FILE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less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"Справка для команды '</a:t>
            </a:r>
            <a:r>
              <a:rPr>
                <a:solidFill>
                  <a:srgbClr val="19177C"/>
                </a:solidFill>
                <a:latin typeface="Courier"/>
              </a:rPr>
              <a:t>$CMD</a:t>
            </a:r>
            <a:r>
              <a:rPr>
                <a:solidFill>
                  <a:srgbClr val="4070A0"/>
                </a:solidFill>
                <a:latin typeface="Courier"/>
              </a:rPr>
              <a:t>' не найдена"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exit</a:t>
            </a:r>
            <a:r>
              <a:rPr>
                <a:latin typeface="Courier"/>
              </a:rPr>
              <a:t> 1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fi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7: Листинг my_man.sh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Делаем скрипт исполняемым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chmod</a:t>
            </a:r>
            <a:r>
              <a:rPr>
                <a:latin typeface="Courier"/>
              </a:rPr>
              <a:t> +x my_man.sh</a:t>
            </a:r>
          </a:p>
        </p:txBody>
      </p:sp>
      <p:pic>
        <p:nvPicPr>
          <p:cNvPr descr="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981200"/>
            <a:ext cx="5105400" cy="31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8: Изменение прав доступа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Тестирование работы </a:t>
            </a:r>
            <a:r>
              <a:rPr b="1">
                <a:latin typeface="Courier"/>
              </a:rPr>
              <a:t>my_man.sh</a:t>
            </a:r>
          </a:p>
          <a:p>
            <a:pPr lvl="0" indent="0">
              <a:buNone/>
            </a:pPr>
            <a:r>
              <a:rPr>
                <a:latin typeface="Courier"/>
              </a:rPr>
              <a:t>./my_man.sh ls</a:t>
            </a:r>
            <a:br/>
            <a:r>
              <a:rPr>
                <a:latin typeface="Courier"/>
              </a:rPr>
              <a:t>./my_man.sh unknown_command</a:t>
            </a:r>
          </a:p>
        </p:txBody>
      </p:sp>
      <p:pic>
        <p:nvPicPr>
          <p:cNvPr descr="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52600"/>
            <a:ext cx="5105400" cy="77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9: Тестирование my_man.sh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Задание 3. Генерация случайной последовательности букв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Создание файла </a:t>
            </a:r>
            <a:r>
              <a:rPr b="1">
                <a:latin typeface="Courier"/>
              </a:rPr>
              <a:t>random_letters.sh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nano</a:t>
            </a:r>
            <a:r>
              <a:rPr>
                <a:latin typeface="Courier"/>
              </a:rPr>
              <a:t> random_letters.sh</a:t>
            </a:r>
          </a:p>
        </p:txBody>
      </p:sp>
      <p:pic>
        <p:nvPicPr>
          <p:cNvPr descr="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917700"/>
            <a:ext cx="5105400" cy="45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10: Создание файла random_letters.sh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Листинг </a:t>
            </a:r>
            <a:r>
              <a:rPr b="1">
                <a:latin typeface="Courier"/>
              </a:rPr>
              <a:t>random_letters.sh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#!/bin/bash</a:t>
            </a:r>
            <a:br/>
            <a:br/>
            <a:r>
              <a:rPr>
                <a:solidFill>
                  <a:srgbClr val="19177C"/>
                </a:solidFill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${1</a:t>
            </a:r>
            <a:r>
              <a:rPr>
                <a:solidFill>
                  <a:srgbClr val="666666"/>
                </a:solidFill>
                <a:latin typeface="Courier"/>
              </a:rPr>
              <a:t>:-</a:t>
            </a:r>
            <a:r>
              <a:rPr>
                <a:latin typeface="Courier"/>
              </a:rPr>
              <a:t>20</a:t>
            </a:r>
            <a:r>
              <a:rPr>
                <a:solidFill>
                  <a:srgbClr val="19177C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((</a:t>
            </a:r>
            <a:r>
              <a:rPr>
                <a:solidFill>
                  <a:srgbClr val="19177C"/>
                </a:solidFill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19177C"/>
                </a:solidFill>
                <a:latin typeface="Courier"/>
              </a:rPr>
              <a:t>LENGTH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++</a:t>
            </a:r>
            <a:r>
              <a:rPr b="1">
                <a:solidFill>
                  <a:srgbClr val="007020"/>
                </a:solidFill>
                <a:latin typeface="Courier"/>
              </a:rPr>
              <a:t>));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RAND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$((RANDOM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26</a:t>
            </a:r>
            <a:r>
              <a:rPr>
                <a:solidFill>
                  <a:srgbClr val="19177C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LETTER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$(</a:t>
            </a:r>
            <a:r>
              <a:rPr>
                <a:solidFill>
                  <a:srgbClr val="008000"/>
                </a:solidFill>
                <a:latin typeface="Courier"/>
              </a:rPr>
              <a:t>printf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\\</a:t>
            </a:r>
            <a:r>
              <a:rPr>
                <a:solidFill>
                  <a:srgbClr val="19177C"/>
                </a:solidFill>
                <a:latin typeface="Courier"/>
              </a:rPr>
              <a:t>$(</a:t>
            </a:r>
            <a:r>
              <a:rPr>
                <a:solidFill>
                  <a:srgbClr val="008000"/>
                </a:solidFill>
                <a:latin typeface="Courier"/>
              </a:rPr>
              <a:t>printf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'%03o'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$((</a:t>
            </a:r>
            <a:r>
              <a:rPr>
                <a:solidFill>
                  <a:srgbClr val="40A070"/>
                </a:solidFill>
                <a:latin typeface="Courier"/>
              </a:rPr>
              <a:t>97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RAND))))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$LETTER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done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36700" y="1193800"/>
            <a:ext cx="6070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11: Листинг random_letters.sh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Делаем скрипт исполняемым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chmod</a:t>
            </a:r>
            <a:r>
              <a:rPr>
                <a:latin typeface="Courier"/>
              </a:rPr>
              <a:t> +x random_letters.sh</a:t>
            </a:r>
          </a:p>
        </p:txBody>
      </p:sp>
      <p:pic>
        <p:nvPicPr>
          <p:cNvPr descr="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54200"/>
            <a:ext cx="5105400" cy="58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12: Изменение прав доступа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Тестирование работы </a:t>
            </a:r>
            <a:r>
              <a:rPr b="1">
                <a:latin typeface="Courier"/>
              </a:rPr>
              <a:t>random_letters.sh</a:t>
            </a:r>
          </a:p>
          <a:p>
            <a:pPr lvl="0" indent="0">
              <a:buNone/>
            </a:pPr>
            <a:r>
              <a:rPr>
                <a:latin typeface="Courier"/>
              </a:rPr>
              <a:t>./random_letters.sh</a:t>
            </a:r>
            <a:br/>
            <a:r>
              <a:rPr>
                <a:latin typeface="Courier"/>
              </a:rPr>
              <a:t>./random_letters.sh 10</a:t>
            </a:r>
          </a:p>
        </p:txBody>
      </p:sp>
      <p:pic>
        <p:nvPicPr>
          <p:cNvPr descr="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562100"/>
            <a:ext cx="5105400" cy="115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13: Тестирование random_letters.sh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Контрольные вопросы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Найдите синтаксическую ошибку в следующей строке: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19177C"/>
                </a:solidFill>
                <a:latin typeface="Courier"/>
              </a:rPr>
              <a:t>$1</a:t>
            </a:r>
            <a:r>
              <a:rPr>
                <a:latin typeface="Courier"/>
              </a:rPr>
              <a:t> != </a:t>
            </a:r>
            <a:r>
              <a:rPr>
                <a:solidFill>
                  <a:srgbClr val="4070A0"/>
                </a:solidFill>
                <a:latin typeface="Courier"/>
              </a:rPr>
              <a:t>"exit"</a:t>
            </a:r>
            <a:r>
              <a:rPr>
                <a:latin typeface="Courier"/>
              </a:rPr>
              <a:t>]</a:t>
            </a:r>
          </a:p>
          <a:p>
            <a:pPr lvl="0" indent="0" marL="0">
              <a:buNone/>
            </a:pPr>
            <a:r>
              <a:rPr b="1"/>
              <a:t>Ответ:</a:t>
            </a:r>
            <a:r>
              <a:rPr/>
              <a:t> пропущены пробелы после </a:t>
            </a:r>
            <a:r>
              <a:rPr>
                <a:latin typeface="Courier"/>
              </a:rPr>
              <a:t>[</a:t>
            </a:r>
            <a:r>
              <a:rPr/>
              <a:t> и перед </a:t>
            </a:r>
            <a:r>
              <a:rPr>
                <a:latin typeface="Courier"/>
              </a:rPr>
              <a:t>]</a:t>
            </a:r>
            <a:r>
              <a:rPr/>
              <a:t>. Правильно: </a:t>
            </a:r>
            <a:r>
              <a:rPr>
                <a:latin typeface="Courier"/>
              </a:rPr>
              <a:t>while [ "$1" != "exit" ]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2. Как объединить (конкатенация) несколько строк в одну?</a:t>
            </a:r>
            <a:r>
              <a:rPr/>
              <a:t> </a:t>
            </a:r>
            <a:r>
              <a:rPr b="1"/>
              <a:t>Ответ:</a:t>
            </a:r>
            <a:r>
              <a:rPr/>
              <a:t> можно использовать оператор </a:t>
            </a:r>
            <a:r>
              <a:rPr>
                <a:latin typeface="Courier"/>
              </a:rPr>
              <a:t>+=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"Hello"</a:t>
            </a:r>
            <a:br/>
            <a:r>
              <a:rPr>
                <a:solidFill>
                  <a:srgbClr val="19177C"/>
                </a:solidFill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solidFill>
                  <a:srgbClr val="4070A0"/>
                </a:solidFill>
                <a:latin typeface="Courier"/>
              </a:rPr>
              <a:t>" World"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3. Найдите информацию об утилите seq. Какими иными способами можно реализовать её функционал?</a:t>
            </a:r>
            <a:r>
              <a:rPr/>
              <a:t> </a:t>
            </a:r>
            <a:r>
              <a:rPr b="1"/>
              <a:t>Ответ:</a:t>
            </a:r>
            <a:r>
              <a:rPr/>
              <a:t> </a:t>
            </a:r>
            <a:r>
              <a:rPr>
                <a:latin typeface="Courier"/>
              </a:rPr>
              <a:t>seq</a:t>
            </a:r>
            <a:r>
              <a:rPr/>
              <a:t> генерирует последовательность чисел. Альтернативы: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{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902000"/>
                </a:solidFill>
                <a:latin typeface="Courier"/>
              </a:rPr>
              <a:t>..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902000"/>
                </a:solidFill>
                <a:latin typeface="Courier"/>
              </a:rPr>
              <a:t>}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$i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done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((</a:t>
            </a:r>
            <a:r>
              <a:rPr>
                <a:solidFill>
                  <a:srgbClr val="19177C"/>
                </a:solidFill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++</a:t>
            </a:r>
            <a:r>
              <a:rPr b="1">
                <a:solidFill>
                  <a:srgbClr val="007020"/>
                </a:solidFill>
                <a:latin typeface="Courier"/>
              </a:rPr>
              <a:t>));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$i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done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4. Какой результат даст вычисление выражения </a:t>
            </a:r>
            <a:r>
              <a:rPr b="1">
                <a:latin typeface="Courier"/>
              </a:rPr>
              <a:t>$((10/3))</a:t>
            </a:r>
            <a:r>
              <a:rPr b="1"/>
              <a:t>?</a:t>
            </a:r>
            <a:r>
              <a:rPr/>
              <a:t> </a:t>
            </a:r>
            <a:r>
              <a:rPr b="1"/>
              <a:t>Ответ:</a:t>
            </a:r>
            <a:r>
              <a:rPr/>
              <a:t> </a:t>
            </a:r>
            <a:r>
              <a:rPr>
                <a:latin typeface="Courier"/>
              </a:rPr>
              <a:t>3</a:t>
            </a:r>
            <a:r>
              <a:rPr/>
              <a:t> (целочисленное деление).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5. Укажите кратко основные отличия командной оболочки zsh от bash.</a:t>
            </a:r>
            <a:r>
              <a:rPr/>
              <a:t> </a:t>
            </a:r>
            <a:r>
              <a:rPr b="1"/>
              <a:t>Ответ:</a:t>
            </a:r>
            <a:r>
              <a:rPr/>
              <a:t> zsh имеет автодополнение с подсветкой, поддержку ассоциативных массивов, разделяемые истории между сеансами.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6. Проверьте, верен ли синтаксис данной конструкции: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((</a:t>
            </a:r>
            <a:r>
              <a:rPr>
                <a:solidFill>
                  <a:srgbClr val="19177C"/>
                </a:solidFill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a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LIMIT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++</a:t>
            </a:r>
            <a:r>
              <a:rPr b="1">
                <a:solidFill>
                  <a:srgbClr val="007020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 b="1"/>
              <a:t>Ответ:</a:t>
            </a:r>
            <a:r>
              <a:rPr/>
              <a:t> синтаксис верен.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7. Сравните язык bash с какими-либо языками программирования. Какие преимущества у bash по сравнению с ними? Какие недостатки?</a:t>
            </a:r>
            <a:r>
              <a:rPr/>
              <a:t> </a:t>
            </a:r>
            <a:r>
              <a:rPr b="1"/>
              <a:t>Ответ:</a:t>
            </a:r>
            <a:br/>
            <a:r>
              <a:rPr i="1"/>
              <a:t>Преимущества:</a:t>
            </a:r>
            <a:r>
              <a:rPr/>
              <a:t> простота автоматизации команд ОС, встроенные инструменты для работы с файлами и процессами.</a:t>
            </a:r>
            <a:br/>
            <a:r>
              <a:rPr i="1"/>
              <a:t>Недостатки:</a:t>
            </a:r>
            <a:r>
              <a:rPr/>
              <a:t> медленная работа, ограниченная поддержка чисел с плавающей точкой.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Вывод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лабораторной работы были разработаны три скрипта:</a:t>
            </a:r>
          </a:p>
          <a:p>
            <a:pPr lvl="0"/>
            <a:r>
              <a:rPr>
                <a:latin typeface="Courier"/>
              </a:rPr>
              <a:t>semafor.sh</a:t>
            </a:r>
            <a:r>
              <a:rPr/>
              <a:t> – реализация упрощённого механизма семафоров с использованием файловой блокировки.</a:t>
            </a:r>
          </a:p>
          <a:p>
            <a:pPr lvl="0"/>
            <a:r>
              <a:rPr>
                <a:latin typeface="Courier"/>
              </a:rPr>
              <a:t>my_man.sh</a:t>
            </a:r>
            <a:r>
              <a:rPr/>
              <a:t> – аналог команды </a:t>
            </a:r>
            <a:r>
              <a:rPr>
                <a:latin typeface="Courier"/>
              </a:rPr>
              <a:t>man</a:t>
            </a:r>
            <a:r>
              <a:rPr/>
              <a:t> для просмотра справки из </a:t>
            </a:r>
            <a:r>
              <a:rPr>
                <a:latin typeface="Courier"/>
              </a:rPr>
              <a:t>/usr/share/man/man1</a:t>
            </a:r>
            <a:r>
              <a:rPr/>
              <a:t>.</a:t>
            </a:r>
          </a:p>
          <a:p>
            <a:pPr lvl="0"/>
            <a:r>
              <a:rPr>
                <a:latin typeface="Courier"/>
              </a:rPr>
              <a:t>random_letters.sh</a:t>
            </a:r>
            <a:r>
              <a:rPr/>
              <a:t> – генерация случайной последовательности букв латинского алфавита с использованием </a:t>
            </a:r>
            <a:r>
              <a:rPr>
                <a:latin typeface="Courier"/>
              </a:rPr>
              <a:t>$RANDOM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Приобретены навыки межпроцессного взаимодействия через файловые блокировки, работы со сжатыми man-страницами (</a:t>
            </a:r>
            <a:r>
              <a:rPr>
                <a:latin typeface="Courier"/>
              </a:rPr>
              <a:t>zcat</a:t>
            </a:r>
            <a:r>
              <a:rPr/>
              <a:t>), генерации случайных последовательностей, а также изучены особенности синтаксиса bash.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№14</dc:title>
  <dc:creator>Иванова Анастасия Сергеевна</dc:creator>
  <cp:keywords/>
  <dcterms:created xsi:type="dcterms:W3CDTF">2026-05-12T19:48:23Z</dcterms:created>
  <dcterms:modified xsi:type="dcterms:W3CDTF">2026-05-12T19:48:23Z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2026-05-12</vt:lpwstr>
  </property>
  <property fmtid="{D5CDD505-2E9C-101B-9397-08002B2CF9AE}" pid="9" name="date-format">
    <vt:lpwstr>YYYY-MM-DD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Программирование в командном процессоре ОС UNIX. Расширенное программирование</vt:lpwstr>
  </property>
  <property fmtid="{D5CDD505-2E9C-101B-9397-08002B2CF9AE}" pid="16" name="toc-title">
    <vt:lpwstr>Содержание</vt:lpwstr>
  </property>
</Properties>
</file>