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0" Type="http://schemas.openxmlformats.org/officeDocument/2006/relationships/slide" Target="slides/slide29.xml" /><Relationship Id="rId31" Type="http://schemas.openxmlformats.org/officeDocument/2006/relationships/slide" Target="slides/slide30.xml" /><Relationship Id="rId32" Type="http://schemas.openxmlformats.org/officeDocument/2006/relationships/slide" Target="slides/slide31.xml" /><Relationship Id="rId33" Type="http://schemas.openxmlformats.org/officeDocument/2006/relationships/slide" Target="slides/slide32.xml" /><Relationship Id="rId34" Type="http://schemas.openxmlformats.org/officeDocument/2006/relationships/slide" Target="slides/slide33.xml" /><Relationship Id="rId35" Type="http://schemas.openxmlformats.org/officeDocument/2006/relationships/slide" Target="slides/slide34.xml" /><Relationship Id="rId36" Type="http://schemas.openxmlformats.org/officeDocument/2006/relationships/slide" Target="slides/slide35.xml" /><Relationship Id="rId37" Type="http://schemas.openxmlformats.org/officeDocument/2006/relationships/slide" Target="slides/slide36.xml" /><Relationship Id="rId38" Type="http://schemas.openxmlformats.org/officeDocument/2006/relationships/slide" Target="slides/slide37.xml" /><Relationship Id="rId39" Type="http://schemas.openxmlformats.org/officeDocument/2006/relationships/slide" Target="slides/slide38.xml" /><Relationship Id="rId40" Type="http://schemas.openxmlformats.org/officeDocument/2006/relationships/slide" Target="slides/slide39.xml" /><Relationship Id="rId41" Type="http://schemas.openxmlformats.org/officeDocument/2006/relationships/slide" Target="slides/slide40.xml" /><Relationship Id="rId42" Type="http://schemas.openxmlformats.org/officeDocument/2006/relationships/slide" Target="slides/slide41.xml" /><Relationship Id="rId43" Type="http://schemas.openxmlformats.org/officeDocument/2006/relationships/slide" Target="slides/slide42.xml" /><Relationship Id="rId44" Type="http://schemas.openxmlformats.org/officeDocument/2006/relationships/slide" Target="slides/slide43.xml" /><Relationship Id="rId45" Type="http://schemas.openxmlformats.org/officeDocument/2006/relationships/slide" Target="slides/slide44.xml" /><Relationship Id="rId46" Type="http://schemas.openxmlformats.org/officeDocument/2006/relationships/slide" Target="slides/slide45.xml" /><Relationship Id="rId47" Type="http://schemas.openxmlformats.org/officeDocument/2006/relationships/slide" Target="slides/slide46.xml" /><Relationship Id="rId48" Type="http://schemas.openxmlformats.org/officeDocument/2006/relationships/slide" Target="slides/slide47.xml" /><Relationship Id="rId50" Type="http://schemas.openxmlformats.org/officeDocument/2006/relationships/viewProps" Target="viewProps.xml" /><Relationship Id="rId49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52" Type="http://schemas.openxmlformats.org/officeDocument/2006/relationships/tableStyles" Target="tableStyles.xml" /><Relationship Id="rId51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hyperlink" Target="mailto:1132250427@rudn.ru" TargetMode="External" /><Relationship Id="rId3" Type="http://schemas.openxmlformats.org/officeDocument/2006/relationships/image" Target="../media/image1.png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2.png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3.png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4.png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5.png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6.png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7.png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8.png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9.png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10.png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11.png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12.png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13.png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14.png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15.png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16.png" 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17.png" 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18.png" /></Relationships>
</file>

<file path=ppt/slides/_rels/slide30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3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3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4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3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7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3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0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4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2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4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5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46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4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Лабораторная работа №10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по курсу: Архитектура компьютера и опреационные системы</a:t>
            </a:r>
            <a:br/>
            <a:br/>
            <a:r>
              <a:rPr/>
              <a:t>Иванова Анастасия Сергеевна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2026-04-18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Докладчик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/>
              <a:t>Иванова Анастасия Сергеевна</a:t>
            </a:r>
          </a:p>
          <a:p>
            <a:pPr lvl="0"/>
            <a:r>
              <a:rPr/>
              <a:t>1 курс группа НКАбд-07-25</a:t>
            </a:r>
          </a:p>
          <a:p>
            <a:pPr lvl="0"/>
            <a:r>
              <a:rPr/>
              <a:t>Российский университет дружбы народов</a:t>
            </a:r>
          </a:p>
          <a:p>
            <a:pPr lvl="0"/>
            <a:r>
              <a:rPr>
                <a:hlinkClick r:id="rId2"/>
              </a:rPr>
              <a:t>1132250427@rudn.ru</a:t>
            </a:r>
          </a:p>
        </p:txBody>
      </p:sp>
      <p:pic>
        <p:nvPicPr>
          <p:cNvPr descr="./image/me.pn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4648200" y="1371600"/>
            <a:ext cx="4038600" cy="30226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 b="1"/>
              <a:t>Вводная часть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Актуальность темы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Редактор </a:t>
            </a:r>
            <a:r>
              <a:rPr>
                <a:latin typeface="Courier"/>
              </a:rPr>
              <a:t>vi</a:t>
            </a:r>
            <a:r>
              <a:rPr/>
              <a:t> (или его улучшенная версия </a:t>
            </a:r>
            <a:r>
              <a:rPr>
                <a:latin typeface="Courier"/>
              </a:rPr>
              <a:t>vim</a:t>
            </a:r>
            <a:r>
              <a:rPr/>
              <a:t>) присутствует по умолчанию во всех UNIX-подобных операционных системах, включая Linux</a:t>
            </a:r>
          </a:p>
          <a:p>
            <a:pPr lvl="0"/>
            <a:r>
              <a:rPr/>
              <a:t>Знание базовых команд </a:t>
            </a:r>
            <a:r>
              <a:rPr>
                <a:latin typeface="Courier"/>
              </a:rPr>
              <a:t>vi</a:t>
            </a:r>
            <a:r>
              <a:rPr/>
              <a:t> необходимо для работы в командной строке, особенно в ситуациях, когда графический интерфейс недоступен (удалённое администрирование, восстановление системы)</a:t>
            </a:r>
          </a:p>
          <a:p>
            <a:pPr lvl="0"/>
            <a:r>
              <a:rPr>
                <a:latin typeface="Courier"/>
              </a:rPr>
              <a:t>vi</a:t>
            </a:r>
            <a:r>
              <a:rPr/>
              <a:t> позволяет эффективно редактировать конфигурационные файлы, скрипты и исходные коды программ без использования мыши</a:t>
            </a:r>
          </a:p>
          <a:p>
            <a:pPr lvl="0"/>
            <a:r>
              <a:rPr/>
              <a:t>Освоение </a:t>
            </a:r>
            <a:r>
              <a:rPr>
                <a:latin typeface="Courier"/>
              </a:rPr>
              <a:t>vi</a:t>
            </a:r>
            <a:r>
              <a:rPr/>
              <a:t> является важным этапом в изучении системного администрирования и разработки под Linux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Объект и предмет исследования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Объект исследования:</a:t>
            </a:r>
            <a:r>
              <a:rPr/>
              <a:t> - Текстовый редактор </a:t>
            </a:r>
            <a:r>
              <a:rPr>
                <a:latin typeface="Courier"/>
              </a:rPr>
              <a:t>vi</a:t>
            </a:r>
            <a:r>
              <a:rPr/>
              <a:t> (Visual display editor) - Режимы работы редактора: командный, вставки и последней строки - Система команд для навигации, редактирования и сохранения файлов</a:t>
            </a:r>
          </a:p>
          <a:p>
            <a:pPr lvl="0" indent="0" marL="0">
              <a:buNone/>
            </a:pPr>
            <a:r>
              <a:rPr b="1"/>
              <a:t>Предмет исследования:</a:t>
            </a:r>
            <a:r>
              <a:rPr/>
              <a:t> - Процесс создания и редактирования текстовых файлов с помощью </a:t>
            </a:r>
            <a:r>
              <a:rPr>
                <a:latin typeface="Courier"/>
              </a:rPr>
              <a:t>vi</a:t>
            </a:r>
            <a:r>
              <a:rPr/>
              <a:t> - Основные команды позиционирования и редактирования - Способы сохранения и выхода из редактора - Настройка опций редактора (нумерация строк, подсветка синтаксиса и др.)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Цели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Познакомиться с операционной системой Linux</a:t>
            </a:r>
          </a:p>
          <a:p>
            <a:pPr lvl="0"/>
            <a:r>
              <a:rPr/>
              <a:t>Получить практические навыки работы с редактором vi, установленным по умолчанию практически во всех дистрибутивах.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 b="1"/>
              <a:t>Выполнение лабораторной работы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 b="1"/>
              <a:t>Задание 1. Создание нового файла с использованием vi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/>
              <a:t>Создадим каталог с именем ~/work/os/lab06 (рис. 1):</a:t>
            </a:r>
          </a:p>
        </p:txBody>
      </p:sp>
      <p:pic>
        <p:nvPicPr>
          <p:cNvPr descr="image/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955800"/>
            <a:ext cx="5105400" cy="3683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Рисунок 1: Создание каталога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-342900" marL="342900">
              <a:buAutoNum startAt="2" type="arabicPeriod"/>
            </a:pPr>
            <a:r>
              <a:rPr/>
              <a:t>Перейдем во вновь созданный каталог (рис. 2):</a:t>
            </a:r>
          </a:p>
        </p:txBody>
      </p:sp>
      <p:pic>
        <p:nvPicPr>
          <p:cNvPr descr="image/2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790700"/>
            <a:ext cx="5105400" cy="698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Рисунок 2: Переход в каталог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-342900" marL="342900">
              <a:buAutoNum startAt="3" type="arabicPeriod"/>
            </a:pPr>
            <a:r>
              <a:rPr/>
              <a:t>Вызовем vi и создадим файл hello.sh (рис. 3):</a:t>
            </a:r>
          </a:p>
        </p:txBody>
      </p:sp>
      <p:pic>
        <p:nvPicPr>
          <p:cNvPr descr="image/3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879600"/>
            <a:ext cx="5105400" cy="533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Рисунок 3: Вызов и создание файла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-342900" marL="342900">
              <a:buAutoNum startAt="4" type="arabicPeriod"/>
            </a:pPr>
            <a:r>
              <a:rPr/>
              <a:t>Нажмем клавишу i и введем текст (рис. 4):</a:t>
            </a:r>
          </a:p>
        </p:txBody>
      </p:sp>
      <p:pic>
        <p:nvPicPr>
          <p:cNvPr descr="image/4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838200"/>
            <a:ext cx="5105400" cy="2616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Рисунок 4: Ввод текста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-342900" marL="342900">
              <a:buAutoNum startAt="5" type="arabicPeriod"/>
            </a:pPr>
            <a:r>
              <a:rPr/>
              <a:t>Нажмем клавишу Esc для перехода в командный режим после ввода текста (рис. 5):</a:t>
            </a:r>
          </a:p>
        </p:txBody>
      </p:sp>
      <p:pic>
        <p:nvPicPr>
          <p:cNvPr descr="image/5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596900"/>
            <a:ext cx="5105400" cy="30861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Рисунок 5: Командный режим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-342900" marL="342900">
              <a:buAutoNum startAt="6" type="arabicPeriod"/>
            </a:pPr>
            <a:r>
              <a:rPr/>
              <a:t>Нажмем : для перехода в режим последней строки и внизу нашего экрана появляется приглашение в виде двоеточия (рис. 6):</a:t>
            </a:r>
          </a:p>
        </p:txBody>
      </p:sp>
      <p:pic>
        <p:nvPicPr>
          <p:cNvPr descr="image/6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140200" y="203200"/>
            <a:ext cx="3975100" cy="3873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Рисунок 6: Двоеточие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-342900" marL="342900">
              <a:buAutoNum startAt="7" type="arabicPeriod"/>
            </a:pPr>
            <a:r>
              <a:rPr/>
              <a:t>Нажмем w (записать) и q (выйти), а затем нажмем клавишу Enter для сохранения текста и завершения работы (рис. 7):</a:t>
            </a:r>
          </a:p>
        </p:txBody>
      </p:sp>
      <p:pic>
        <p:nvPicPr>
          <p:cNvPr descr="image/7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33900" y="203200"/>
            <a:ext cx="3162300" cy="3873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Рисунок 7: Сохранение и выход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-342900" marL="342900">
              <a:buAutoNum startAt="8" type="arabicPeriod"/>
            </a:pPr>
            <a:r>
              <a:rPr/>
              <a:t>Сделем файл исполняемым (рис. 8):</a:t>
            </a:r>
          </a:p>
        </p:txBody>
      </p:sp>
      <p:pic>
        <p:nvPicPr>
          <p:cNvPr descr="image/8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930400"/>
            <a:ext cx="5105400" cy="431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Рисунок 8: Стал исполнаемым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 b="1"/>
              <a:t>Задание 2. Редактирование существующего файла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/>
              <a:t>Вызовем vi на редактирование файла (рис. 9):</a:t>
            </a:r>
          </a:p>
        </p:txBody>
      </p:sp>
      <p:pic>
        <p:nvPicPr>
          <p:cNvPr descr="image/9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304800"/>
            <a:ext cx="5105400" cy="36703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Рисунок 9: Вызов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-342900" marL="342900">
              <a:buAutoNum startAt="2" type="arabicPeriod"/>
            </a:pPr>
            <a:r>
              <a:rPr/>
              <a:t>Установим курсор в конец слова HELL второй строки (рис. 10):</a:t>
            </a:r>
          </a:p>
        </p:txBody>
      </p:sp>
      <p:pic>
        <p:nvPicPr>
          <p:cNvPr descr="image/10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571500"/>
            <a:ext cx="5105400" cy="3136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Рисунок 10: Установка курсора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-342900" marL="342900">
              <a:buAutoNum startAt="3" type="arabicPeriod"/>
            </a:pPr>
            <a:r>
              <a:rPr/>
              <a:t>Перейдем в режим вставки и заменим на HELLO. Нажмем Esc для возврата в командный режим (рис. 11):</a:t>
            </a:r>
          </a:p>
        </p:txBody>
      </p:sp>
      <p:pic>
        <p:nvPicPr>
          <p:cNvPr descr="image/1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876300"/>
            <a:ext cx="5105400" cy="25273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Рисунок 11: Замена слова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-342900" marL="342900">
              <a:buAutoNum startAt="4" type="arabicPeriod"/>
            </a:pPr>
            <a:r>
              <a:rPr/>
              <a:t>Установим курсор на четвертую строку и сотрем слово LOCAL (рис. 12):</a:t>
            </a:r>
          </a:p>
        </p:txBody>
      </p:sp>
      <p:pic>
        <p:nvPicPr>
          <p:cNvPr descr="image/12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143000"/>
            <a:ext cx="5105400" cy="20066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Рисунок 12: Стирание слова</a:t>
            </a:r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-342900" marL="342900">
              <a:buAutoNum startAt="5" type="arabicPeriod"/>
            </a:pPr>
            <a:r>
              <a:rPr/>
              <a:t>Перейдем в режим вставки и наберем следующий текст: local, затем нажмем Esc для возврата в командный режим (рис. 13):</a:t>
            </a:r>
          </a:p>
        </p:txBody>
      </p:sp>
      <p:pic>
        <p:nvPicPr>
          <p:cNvPr descr="image/13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952500"/>
            <a:ext cx="5105400" cy="2374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Рисунок 13: Режим вставки</a:t>
            </a:r>
          </a:p>
        </p:txBody>
      </p:sp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-342900" marL="342900">
              <a:buAutoNum startAt="6" type="arabicPeriod"/>
            </a:pPr>
            <a:r>
              <a:rPr/>
              <a:t>Установим курсор на последней строке файла. Вставим после неё строку, содержащую следующий текст: echo $HELLO (рис. 14):</a:t>
            </a:r>
          </a:p>
        </p:txBody>
      </p:sp>
      <p:pic>
        <p:nvPicPr>
          <p:cNvPr descr="image/14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863600"/>
            <a:ext cx="5105400" cy="2552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Рисунок 14: Вставка текста</a:t>
            </a:r>
          </a:p>
        </p:txBody>
      </p:sp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-342900" marL="342900">
              <a:buAutoNum startAt="7" type="arabicPeriod"/>
            </a:pPr>
            <a:r>
              <a:rPr/>
              <a:t>Нажмем Esc для перехода в командный режим (рис. 15):</a:t>
            </a:r>
          </a:p>
        </p:txBody>
      </p:sp>
      <p:pic>
        <p:nvPicPr>
          <p:cNvPr descr="image/15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064000" y="203200"/>
            <a:ext cx="4114800" cy="3873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Рисунок 15: Переход в командный режим</a:t>
            </a:r>
          </a:p>
        </p:txBody>
      </p:sp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-342900" marL="342900">
              <a:buAutoNum startAt="8" type="arabicPeriod"/>
            </a:pPr>
            <a:r>
              <a:rPr/>
              <a:t>Введем символ : для перехода в режим последней строки. Запишем произведённые изменения и выйдем из vi (рис. 16):</a:t>
            </a:r>
          </a:p>
        </p:txBody>
      </p:sp>
      <p:pic>
        <p:nvPicPr>
          <p:cNvPr descr="image/16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143000"/>
            <a:ext cx="5105400" cy="1993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Рисунок 16: Сохранение и выход</a:t>
            </a:r>
          </a:p>
        </p:txBody>
      </p:sp>
    </p:spTree>
  </p:cSld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-342900" marL="342900">
              <a:buAutoNum startAt="9" type="arabicPeriod"/>
            </a:pPr>
            <a:r>
              <a:rPr/>
              <a:t>Проверим работу файл (рис. 17):</a:t>
            </a:r>
          </a:p>
        </p:txBody>
      </p:sp>
      <p:pic>
        <p:nvPicPr>
          <p:cNvPr descr="image/17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714500"/>
            <a:ext cx="5105400" cy="838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Рисунок 17: Проверка работы файла</a:t>
            </a:r>
          </a:p>
        </p:txBody>
      </p:sp>
    </p:spTree>
  </p:cSld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 b="1"/>
              <a:t>Контрольные вопросы</a:t>
            </a:r>
          </a:p>
        </p:txBody>
      </p:sp>
    </p:spTree>
  </p:cSld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1. Дайте краткую характеристику режимам работы редактора vi.</a:t>
            </a:r>
          </a:p>
          <a:p>
            <a:pPr lvl="0"/>
            <a:r>
              <a:rPr b="1"/>
              <a:t>Командный режим</a:t>
            </a:r>
            <a:r>
              <a:rPr/>
              <a:t> — предназначен для ввода команд редактирования и навигации. Переход — клавиша </a:t>
            </a:r>
            <a:r>
              <a:rPr>
                <a:latin typeface="Courier"/>
              </a:rPr>
              <a:t>Esc</a:t>
            </a:r>
            <a:r>
              <a:rPr/>
              <a:t>.</a:t>
            </a:r>
          </a:p>
          <a:p>
            <a:pPr lvl="0"/>
            <a:r>
              <a:rPr b="1"/>
              <a:t>Режим вставки</a:t>
            </a:r>
            <a:r>
              <a:rPr/>
              <a:t> — предназначен для ввода текста. Переход — клавиши </a:t>
            </a:r>
            <a:r>
              <a:rPr>
                <a:latin typeface="Courier"/>
              </a:rPr>
              <a:t>i</a:t>
            </a:r>
            <a:r>
              <a:rPr/>
              <a:t>, </a:t>
            </a:r>
            <a:r>
              <a:rPr>
                <a:latin typeface="Courier"/>
              </a:rPr>
              <a:t>a</a:t>
            </a:r>
            <a:r>
              <a:rPr/>
              <a:t>, </a:t>
            </a:r>
            <a:r>
              <a:rPr>
                <a:latin typeface="Courier"/>
              </a:rPr>
              <a:t>o</a:t>
            </a:r>
            <a:r>
              <a:rPr/>
              <a:t>, </a:t>
            </a:r>
            <a:r>
              <a:rPr>
                <a:latin typeface="Courier"/>
              </a:rPr>
              <a:t>O</a:t>
            </a:r>
            <a:r>
              <a:rPr/>
              <a:t>.</a:t>
            </a:r>
          </a:p>
          <a:p>
            <a:pPr lvl="0"/>
            <a:r>
              <a:rPr b="1"/>
              <a:t>Режим последней строки</a:t>
            </a:r>
            <a:r>
              <a:rPr/>
              <a:t> — используется для сохранения файла, выхода из редактора, поиска и замены. Переход — </a:t>
            </a:r>
            <a:r>
              <a:rPr>
                <a:latin typeface="Courier"/>
              </a:rPr>
              <a:t>:</a:t>
            </a:r>
            <a:r>
              <a:rPr/>
              <a:t> (двоеточие) в командном режиме.</a:t>
            </a:r>
          </a:p>
        </p:txBody>
      </p:sp>
    </p:spTree>
  </p:cSld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2. Как выйти из редактора, не сохраняя произведённые изменения?</a:t>
            </a:r>
          </a:p>
          <a:p>
            <a:pPr lvl="0" indent="0" marL="0">
              <a:buNone/>
            </a:pPr>
            <a:r>
              <a:rPr/>
              <a:t>В командном режиме нажать </a:t>
            </a:r>
            <a:r>
              <a:rPr>
                <a:latin typeface="Courier"/>
              </a:rPr>
              <a:t>:</a:t>
            </a:r>
            <a:r>
              <a:rPr/>
              <a:t> → ввести </a:t>
            </a:r>
            <a:r>
              <a:rPr>
                <a:latin typeface="Courier"/>
              </a:rPr>
              <a:t>q!</a:t>
            </a:r>
            <a:r>
              <a:rPr/>
              <a:t> → нажать </a:t>
            </a:r>
            <a:r>
              <a:rPr>
                <a:latin typeface="Courier"/>
              </a:rPr>
              <a:t>Enter</a:t>
            </a:r>
            <a:r>
              <a:rPr/>
              <a:t>.</a:t>
            </a:r>
          </a:p>
        </p:txBody>
      </p:sp>
    </p:spTree>
  </p:cSld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3. Назовите и дайте краткую характеристику командам позиционирования.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2700"/>
                <a:gridCol w="25527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Команда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Действие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Переход в начало текущей строки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$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Переход в конец текущей строки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w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Переход к началу следующего слова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b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Переход к началу предыдущего слова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gg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Переход в начало файла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Переход в конец файла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Переход на строку с номером 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Ctrl+f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Переход на страницу вперёд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Ctrl+b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Переход на страницу назад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4. Что для редактора vi является словом?</a:t>
            </a:r>
          </a:p>
          <a:p>
            <a:pPr lvl="0" indent="0" marL="0">
              <a:buNone/>
            </a:pPr>
            <a:r>
              <a:rPr/>
              <a:t>Словом является последовательность букв, цифр и символа подчёркивания </a:t>
            </a:r>
            <a:r>
              <a:rPr>
                <a:latin typeface="Courier"/>
              </a:rPr>
              <a:t>_</a:t>
            </a:r>
            <a:r>
              <a:rPr/>
              <a:t>. Пунктуация и пробелы разделяют слова.</a:t>
            </a:r>
          </a:p>
        </p:txBody>
      </p:sp>
    </p:spTree>
  </p:cSld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5. Каким образом из любого места редактируемого файла перейти в начало (конец) файла?</a:t>
            </a:r>
          </a:p>
          <a:p>
            <a:pPr lvl="0"/>
            <a:r>
              <a:rPr/>
              <a:t>В начало файла: в командном режиме нажать </a:t>
            </a:r>
            <a:r>
              <a:rPr>
                <a:latin typeface="Courier"/>
              </a:rPr>
              <a:t>gg</a:t>
            </a:r>
          </a:p>
          <a:p>
            <a:pPr lvl="0"/>
            <a:r>
              <a:rPr/>
              <a:t>В конец файла: в командном режиме нажать </a:t>
            </a:r>
            <a:r>
              <a:rPr>
                <a:latin typeface="Courier"/>
              </a:rPr>
              <a:t>G</a:t>
            </a:r>
          </a:p>
        </p:txBody>
      </p:sp>
    </p:spTree>
  </p:cSld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6. Назовите и дайте краткую характеристику основным группам команд редактирования.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11300"/>
                <a:gridCol w="1701800"/>
                <a:gridCol w="18923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Группа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Команды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Действие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Вставка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i</a:t>
                      </a:r>
                      <a:r>
                        <a:rPr/>
                        <a:t>, </a:t>
                      </a:r>
                      <a:r>
                        <a:rPr>
                          <a:latin typeface="Courier"/>
                        </a:rPr>
                        <a:t>a</a:t>
                      </a:r>
                      <a:r>
                        <a:rPr/>
                        <a:t>, </a:t>
                      </a:r>
                      <a:r>
                        <a:rPr>
                          <a:latin typeface="Courier"/>
                        </a:rPr>
                        <a:t>o</a:t>
                      </a:r>
                      <a:r>
                        <a:rPr/>
                        <a:t>, </a:t>
                      </a:r>
                      <a:r>
                        <a:rPr>
                          <a:latin typeface="Courier"/>
                        </a:rPr>
                        <a:t>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Вставка текста перед/после курсора, на новой строке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Удаление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x</a:t>
                      </a:r>
                      <a:r>
                        <a:rPr/>
                        <a:t>, </a:t>
                      </a:r>
                      <a:r>
                        <a:rPr>
                          <a:latin typeface="Courier"/>
                        </a:rPr>
                        <a:t>dd</a:t>
                      </a:r>
                      <a:r>
                        <a:rPr/>
                        <a:t>, </a:t>
                      </a:r>
                      <a:r>
                        <a:rPr>
                          <a:latin typeface="Courier"/>
                        </a:rPr>
                        <a:t>dw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Удаление символа, строки, слова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Замена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r</a:t>
                      </a:r>
                      <a:r>
                        <a:rPr/>
                        <a:t>, </a:t>
                      </a:r>
                      <a:r>
                        <a:rPr>
                          <a:latin typeface="Courier"/>
                        </a:rPr>
                        <a:t>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Замена одного или нескольких символов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Копирование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yy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Копирование строки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Вставка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p</a:t>
                      </a:r>
                      <a:r>
                        <a:rPr/>
                        <a:t>, </a:t>
                      </a:r>
                      <a:r>
                        <a:rPr>
                          <a:latin typeface="Courier"/>
                        </a:rPr>
                        <a:t>P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Вставка скопированного или удалённого текста после/перед курсором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Отмена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u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Отмена последнего действия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7. Необходимо заполнить строку символами $. Каковы ваши действия?</a:t>
            </a:r>
          </a:p>
          <a:p>
            <a:pPr lvl="0" indent="-342900" marL="342900">
              <a:buAutoNum type="arabicPeriod"/>
            </a:pPr>
            <a:r>
              <a:rPr/>
              <a:t>Перейти в командный режим (</a:t>
            </a:r>
            <a:r>
              <a:rPr>
                <a:latin typeface="Courier"/>
              </a:rPr>
              <a:t>Esc</a:t>
            </a:r>
            <a:r>
              <a:rPr/>
              <a:t>)</a:t>
            </a:r>
          </a:p>
          <a:p>
            <a:pPr lvl="0" indent="-342900" marL="342900">
              <a:buAutoNum type="arabicPeriod"/>
            </a:pPr>
            <a:r>
              <a:rPr/>
              <a:t>Переместить курсор на нужную строку</a:t>
            </a:r>
          </a:p>
          <a:p>
            <a:pPr lvl="0" indent="-342900" marL="342900">
              <a:buAutoNum type="arabicPeriod"/>
            </a:pPr>
            <a:r>
              <a:rPr/>
              <a:t>Нажать </a:t>
            </a:r>
            <a:r>
              <a:rPr>
                <a:latin typeface="Courier"/>
              </a:rPr>
              <a:t>R</a:t>
            </a:r>
            <a:r>
              <a:rPr/>
              <a:t> (замена нескольких символов)</a:t>
            </a:r>
          </a:p>
          <a:p>
            <a:pPr lvl="0" indent="-342900" marL="342900">
              <a:buAutoNum type="arabicPeriod"/>
            </a:pPr>
            <a:r>
              <a:rPr/>
              <a:t>Вводить </a:t>
            </a:r>
            <a:r>
              <a:rPr>
                <a:latin typeface="Courier"/>
              </a:rPr>
              <a:t>$</a:t>
            </a:r>
            <a:r>
              <a:rPr/>
              <a:t> до конца строки</a:t>
            </a:r>
          </a:p>
          <a:p>
            <a:pPr lvl="0" indent="-342900" marL="342900">
              <a:buAutoNum type="arabicPeriod"/>
            </a:pPr>
            <a:r>
              <a:rPr/>
              <a:t>Нажать </a:t>
            </a:r>
            <a:r>
              <a:rPr>
                <a:latin typeface="Courier"/>
              </a:rPr>
              <a:t>Esc</a:t>
            </a:r>
            <a:r>
              <a:rPr/>
              <a:t> для выхода из режима замены</a:t>
            </a:r>
          </a:p>
          <a:p>
            <a:pPr lvl="0" indent="0" marL="0">
              <a:buNone/>
            </a:pPr>
            <a:r>
              <a:rPr/>
              <a:t>Или: </a:t>
            </a:r>
            <a:r>
              <a:rPr>
                <a:latin typeface="Courier"/>
              </a:rPr>
              <a:t>r$</a:t>
            </a:r>
            <a:r>
              <a:rPr/>
              <a:t> — заменить один символ под курсором на </a:t>
            </a:r>
            <a:r>
              <a:rPr>
                <a:latin typeface="Courier"/>
              </a:rPr>
              <a:t>$</a:t>
            </a:r>
            <a:r>
              <a:rPr/>
              <a:t>.</a:t>
            </a:r>
          </a:p>
        </p:txBody>
      </p:sp>
    </p:spTree>
  </p:cSld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8. Как отменить некорректное действие, связанное с процессом редактирования?</a:t>
            </a:r>
          </a:p>
          <a:p>
            <a:pPr lvl="0" indent="0" marL="0">
              <a:buNone/>
            </a:pPr>
            <a:r>
              <a:rPr/>
              <a:t>В командном режиме нажать </a:t>
            </a:r>
            <a:r>
              <a:rPr>
                <a:latin typeface="Courier"/>
              </a:rPr>
              <a:t>u</a:t>
            </a:r>
            <a:r>
              <a:rPr/>
              <a:t> — отмена последнего действия.</a:t>
            </a:r>
          </a:p>
        </p:txBody>
      </p:sp>
    </p:spTree>
  </p:cSld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9. Назовите и дайте характеристику основным группам команд режима последней строки.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2700"/>
                <a:gridCol w="25527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Команда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Действие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:w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Сохранить файл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:q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Выйти из редактора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:wq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Сохранить и выйти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:q!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Выйти без сохранения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:set nu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Показать номера строк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:set nonu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Скрыть номера строк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:set list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Показать невидимые символы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:set ic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Игнорировать регистр при поиске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:set all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Показать все опции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10. Как определить, не перемещая курсора, позицию, в которой заканчивается строка?</a:t>
            </a:r>
          </a:p>
          <a:p>
            <a:pPr lvl="0" indent="0" marL="0">
              <a:buNone/>
            </a:pPr>
            <a:r>
              <a:rPr/>
              <a:t>В командном режиме нажать </a:t>
            </a:r>
            <a:r>
              <a:rPr>
                <a:latin typeface="Courier"/>
              </a:rPr>
              <a:t>$</a:t>
            </a:r>
            <a:r>
              <a:rPr/>
              <a:t> — курсор переместится в конец строки, показав позицию.</a:t>
            </a:r>
          </a:p>
        </p:txBody>
      </p:sp>
    </p:spTree>
  </p:cSld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11. Выполните анализ опций редактора vi (сколько их, как узнать их назначение и т.д.).</a:t>
            </a:r>
          </a:p>
          <a:p>
            <a:pPr lvl="0" indent="0" marL="0">
              <a:buNone/>
            </a:pPr>
            <a:r>
              <a:rPr/>
              <a:t>Узнать список всех опций можно командой </a:t>
            </a:r>
            <a:r>
              <a:rPr>
                <a:latin typeface="Courier"/>
              </a:rPr>
              <a:t>:set all</a:t>
            </a:r>
            <a:r>
              <a:rPr/>
              <a:t> (более 100 опций). Узнать назначение конкретной опции — </a:t>
            </a:r>
            <a:r>
              <a:rPr>
                <a:latin typeface="Courier"/>
              </a:rPr>
              <a:t>:help set</a:t>
            </a:r>
            <a:r>
              <a:rPr/>
              <a:t> или </a:t>
            </a:r>
            <a:r>
              <a:rPr>
                <a:latin typeface="Courier"/>
              </a:rPr>
              <a:t>:help опция</a:t>
            </a:r>
            <a:r>
              <a:rPr/>
              <a:t>.</a:t>
            </a:r>
          </a:p>
          <a:p>
            <a:pPr lvl="0" indent="0" marL="0">
              <a:buNone/>
            </a:pPr>
            <a:r>
              <a:rPr/>
              <a:t>Основные опции: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2700"/>
                <a:gridCol w="25527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Опция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Назначение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autoindent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Автоматический отступ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ignorecase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Игнорировать регистр при поиске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number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Показывать номера строк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syntax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Подсветка синтаксиса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tabstop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Ширина табуляции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wrap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Перенос строк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12. Как определить режим работы редактора vi?</a:t>
            </a:r>
          </a:p>
          <a:p>
            <a:pPr lvl="0"/>
            <a:r>
              <a:rPr/>
              <a:t>В </a:t>
            </a:r>
            <a:r>
              <a:rPr b="1"/>
              <a:t>командном режиме</a:t>
            </a:r>
            <a:r>
              <a:rPr/>
              <a:t> клавиши печатают команды, а не текст. Внизу экрана нет индикатора режима.</a:t>
            </a:r>
          </a:p>
          <a:p>
            <a:pPr lvl="0"/>
            <a:r>
              <a:rPr/>
              <a:t>В </a:t>
            </a:r>
            <a:r>
              <a:rPr b="1"/>
              <a:t>режиме вставки</a:t>
            </a:r>
            <a:r>
              <a:rPr/>
              <a:t> вводимый текст отображается, внизу экрана появляется индикатор </a:t>
            </a:r>
            <a:r>
              <a:rPr>
                <a:latin typeface="Courier"/>
              </a:rPr>
              <a:t>-- INSERT --</a:t>
            </a:r>
            <a:r>
              <a:rPr/>
              <a:t>.</a:t>
            </a:r>
          </a:p>
          <a:p>
            <a:pPr lvl="0"/>
            <a:r>
              <a:rPr/>
              <a:t>В </a:t>
            </a:r>
            <a:r>
              <a:rPr b="1"/>
              <a:t>режиме последней строки</a:t>
            </a:r>
            <a:r>
              <a:rPr/>
              <a:t> внизу экрана появляется двоеточие </a:t>
            </a:r>
            <a:r>
              <a:rPr>
                <a:latin typeface="Courier"/>
              </a:rPr>
              <a:t>:</a:t>
            </a:r>
            <a:r>
              <a:rPr/>
              <a:t>.</a:t>
            </a:r>
          </a:p>
        </p:txBody>
      </p:sp>
    </p:spTree>
  </p:cSld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13. Постройте граф взаимосвязи режимов работы редактора vi.</a:t>
            </a:r>
          </a:p>
          <a:p>
            <a:pPr lvl="0" indent="0">
              <a:buNone/>
            </a:pPr>
            <a:r>
              <a:rPr>
                <a:latin typeface="Courier"/>
              </a:rPr>
              <a:t>        +-------------------+
        |                   |
        |   Командный режим |
        |                   |
        +-------------------+
          |         |     |
          |         |     |
    i/a/o/O|         |:    |Esc
          |         |     |
          v         v     v
+-------------------+     +-------------------+
|                   |     |                   |
|   Режим вставки   |     | Режим последней   |
|                   |     |     строки        |
+-------------------+     +-------------------+
          |                     |
          |                     | w / q / wq / q!
          |                     v
          |                 +-------------------+
          |                 |                   |
          |                 |      Выход        |
          |                 |                   |
          |                 +-------------------+
          |
          |Esc
          |
          v
+-------------------+
|                   |
|   Командный режим |
|                   |
+-------------------+</a:t>
            </a:r>
          </a:p>
        </p:txBody>
      </p:sp>
    </p:spTree>
  </p:cSld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 b="1"/>
              <a:t>Вывод</a:t>
            </a:r>
          </a:p>
        </p:txBody>
      </p:sp>
    </p:spTree>
  </p:cSld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Мы познакомились с операционной системой Linux и получили практические навыки работы с редактором vi, установленным по умолчанию практически во всех дистрибутивах.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Лабораторная работа №10</dc:title>
  <dc:creator>Иванова Анастасия Сергеевна</dc:creator>
  <cp:keywords/>
  <dcterms:created xsi:type="dcterms:W3CDTF">2026-04-18T15:33:17Z</dcterms:created>
  <dcterms:modified xsi:type="dcterms:W3CDTF">2026-04-18T15:33:17Z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ffiliations">
    <vt:lpwstr/>
  </property>
  <property fmtid="{D5CDD505-2E9C-101B-9397-08002B2CF9AE}" pid="3" name="authors">
    <vt:lpwstr/>
  </property>
  <property fmtid="{D5CDD505-2E9C-101B-9397-08002B2CF9AE}" pid="4" name="biblio-config">
    <vt:lpwstr>True</vt:lpwstr>
  </property>
  <property fmtid="{D5CDD505-2E9C-101B-9397-08002B2CF9AE}" pid="5" name="by-affiliation">
    <vt:lpwstr/>
  </property>
  <property fmtid="{D5CDD505-2E9C-101B-9397-08002B2CF9AE}" pid="6" name="by-author">
    <vt:lpwstr/>
  </property>
  <property fmtid="{D5CDD505-2E9C-101B-9397-08002B2CF9AE}" pid="7" name="crossref">
    <vt:lpwstr/>
  </property>
  <property fmtid="{D5CDD505-2E9C-101B-9397-08002B2CF9AE}" pid="8" name="date">
    <vt:lpwstr>2026-04-18</vt:lpwstr>
  </property>
  <property fmtid="{D5CDD505-2E9C-101B-9397-08002B2CF9AE}" pid="9" name="date-format">
    <vt:lpwstr>YYYY-MM-DD</vt:lpwstr>
  </property>
  <property fmtid="{D5CDD505-2E9C-101B-9397-08002B2CF9AE}" pid="10" name="header-includes">
    <vt:lpwstr/>
  </property>
  <property fmtid="{D5CDD505-2E9C-101B-9397-08002B2CF9AE}" pid="11" name="include-after">
    <vt:lpwstr/>
  </property>
  <property fmtid="{D5CDD505-2E9C-101B-9397-08002B2CF9AE}" pid="12" name="include-before">
    <vt:lpwstr/>
  </property>
  <property fmtid="{D5CDD505-2E9C-101B-9397-08002B2CF9AE}" pid="13" name="labels">
    <vt:lpwstr/>
  </property>
  <property fmtid="{D5CDD505-2E9C-101B-9397-08002B2CF9AE}" pid="14" name="license">
    <vt:lpwstr/>
  </property>
  <property fmtid="{D5CDD505-2E9C-101B-9397-08002B2CF9AE}" pid="15" name="subtitle">
    <vt:lpwstr>по курсу: Архитектура компьютера и опреационные системы</vt:lpwstr>
  </property>
  <property fmtid="{D5CDD505-2E9C-101B-9397-08002B2CF9AE}" pid="16" name="toc-title">
    <vt:lpwstr>Содержание</vt:lpwstr>
  </property>
</Properties>
</file>