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60" Type="http://schemas.openxmlformats.org/officeDocument/2006/relationships/viewProps" Target="viewProps.xml" /><Relationship Id="rId5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2" Type="http://schemas.openxmlformats.org/officeDocument/2006/relationships/tableStyles" Target="tableStyles.xml" /><Relationship Id="rId6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1132250427@rudn.ru" TargetMode="External" /><Relationship Id="rId3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5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7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8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9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0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1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2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3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№8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по курсу: Архитектура компьютера и опреационные системы</a:t>
            </a:r>
            <a:br/>
            <a:br/>
            <a:r>
              <a:rPr/>
              <a:t>Иванова Анастасия Сергеевна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2026-04-04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Иванова Анастасия Сергеевна</a:t>
            </a:r>
          </a:p>
          <a:p>
            <a:pPr lvl="0"/>
            <a:r>
              <a:rPr/>
              <a:t>1 курс группа НКАбд-07-25</a:t>
            </a:r>
          </a:p>
          <a:p>
            <a:pPr lvl="0"/>
            <a:r>
              <a:rPr/>
              <a:t>Российский университет дружбы народов</a:t>
            </a:r>
          </a:p>
          <a:p>
            <a:pPr lvl="0"/>
            <a:r>
              <a:rPr>
                <a:hlinkClick r:id="rId2"/>
              </a:rPr>
              <a:t>1132250427@rudn.ru</a:t>
            </a:r>
          </a:p>
        </p:txBody>
      </p:sp>
      <p:pic>
        <p:nvPicPr>
          <p:cNvPr descr="./image/m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371600"/>
            <a:ext cx="40386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Вводная часть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Актуальность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Эффективное управление файловой системой и процессами — базовый навык администрирования Linux</a:t>
            </a:r>
          </a:p>
          <a:p>
            <a:pPr lvl="0"/>
            <a:r>
              <a:rPr/>
              <a:t>Умение быстро находить файлы и фильтровать данные ускоряет работу с большими объёмами информации</a:t>
            </a:r>
          </a:p>
          <a:p>
            <a:pPr lvl="0"/>
            <a:r>
              <a:rPr/>
              <a:t>Контроль за использованием дискового пространства предотвращает сбои в работе системы</a:t>
            </a:r>
          </a:p>
          <a:p>
            <a:pPr lvl="0"/>
            <a:r>
              <a:rPr/>
              <a:t>Навыки управления процессами позволяют оперативно реагировать на зависания и утечки ресурсов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Объект и предмет исследования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000"/>
                <a:gridCol w="4292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Компонент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Содержание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Объект исследования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Командная оболочка Linux (bash) и её инструменты для работы с файлами, процессами и дисковым пространством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Предмет исследования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Синтаксис и практическое применение команд: </a:t>
                      </a:r>
                      <a:r>
                        <a:rPr>
                          <a:latin typeface="Courier"/>
                        </a:rPr>
                        <a:t>find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grep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df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du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ps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kill</a:t>
                      </a:r>
                      <a:r>
                        <a:rPr/>
                        <a:t>, а также механизмы перенаправления потоков (</a:t>
                      </a:r>
                      <a:r>
                        <a:rPr>
                          <a:latin typeface="Courier"/>
                        </a:rPr>
                        <a:t>&gt;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&gt;&gt;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|</a:t>
                      </a:r>
                      <a:r>
                        <a:rPr/>
                        <a:t>) и управления задачами (</a:t>
                      </a:r>
                      <a:r>
                        <a:rPr>
                          <a:latin typeface="Courier"/>
                        </a:rPr>
                        <a:t>jobs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fg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bg</a:t>
                      </a:r>
                      <a:r>
                        <a:rPr/>
                        <a:t>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Ознакомиться с инструментами поиска файлов и фильтрации текстовых данных, приобрести практические навыки: по управлению процессами (и заданиями), по проверке использования диска и обслуживанию файловых систем.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Осуществите вход в систему, используя соответствующее имя пользователя (рис. 1):</a:t>
            </a:r>
          </a:p>
        </p:txBody>
      </p:sp>
      <p:pic>
        <p:nvPicPr>
          <p:cNvPr descr="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68400"/>
            <a:ext cx="51054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1: Вход в систему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2" type="arabicPeriod"/>
            </a:pPr>
            <a:r>
              <a:rPr/>
              <a:t>Запишите в файл file.txt названия файлов, содержащихся в каталоге /etc. Допишите в этот же файл названия файлов, содержащихся в вашем домашнем каталоге (рис. 2):</a:t>
            </a:r>
          </a:p>
        </p:txBody>
      </p:sp>
      <p:pic>
        <p:nvPicPr>
          <p:cNvPr descr="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81100"/>
            <a:ext cx="5105400" cy="191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2: Запись в файл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Дополнение списка (рис. 3):</a:t>
            </a:r>
          </a:p>
        </p:txBody>
      </p:sp>
      <p:pic>
        <p:nvPicPr>
          <p:cNvPr descr="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82600"/>
            <a:ext cx="5105400" cy="3314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3: Запись в файл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3" type="arabicPeriod"/>
            </a:pPr>
            <a:r>
              <a:rPr/>
              <a:t>Выведите имена всех файлов из file.txt, имеющих расширение .conf, после чего запишите их в новый текстовой файл conf.txt (рис. 4):</a:t>
            </a:r>
          </a:p>
        </p:txBody>
      </p:sp>
      <p:pic>
        <p:nvPicPr>
          <p:cNvPr descr="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57200"/>
            <a:ext cx="5105400" cy="3365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4: Вывод имен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Запись в новый файл (рис. 5):</a:t>
            </a:r>
          </a:p>
        </p:txBody>
      </p:sp>
      <p:pic>
        <p:nvPicPr>
          <p:cNvPr descr="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95400"/>
            <a:ext cx="5105400" cy="170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5: Запись в файл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4" type="arabicPeriod"/>
            </a:pPr>
            <a:r>
              <a:rPr/>
              <a:t>Определите, какие файлы в вашем домашнем каталоге имеют имена, начинавшиеся с символа c? Предложите несколько вариантов, как это сделать (рис. 6):</a:t>
            </a:r>
          </a:p>
        </p:txBody>
      </p:sp>
      <p:pic>
        <p:nvPicPr>
          <p:cNvPr descr="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01800"/>
            <a:ext cx="5105400" cy="87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6: Определение файлов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5" type="arabicPeriod"/>
            </a:pPr>
            <a:r>
              <a:rPr/>
              <a:t>Выведите на экран (по странично) имена файлов из каталога /etc, начинающиеся с символа h (рис. 7):</a:t>
            </a:r>
          </a:p>
        </p:txBody>
      </p:sp>
      <p:pic>
        <p:nvPicPr>
          <p:cNvPr descr="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65300"/>
            <a:ext cx="5105400" cy="73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7: Вывод имен файлов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Отдельно имена(рис. 8):</a:t>
            </a:r>
          </a:p>
        </p:txBody>
      </p:sp>
      <p:pic>
        <p:nvPicPr>
          <p:cNvPr descr="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70000"/>
            <a:ext cx="5105400" cy="175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8: Имена файлов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6" type="arabicPeriod"/>
            </a:pPr>
            <a:r>
              <a:rPr/>
              <a:t>Запустите в фоновом режиме процесс, который будет записывать в файл ~/logfile файлы, имена которых начинаются с log (рис. 9):</a:t>
            </a:r>
          </a:p>
        </p:txBody>
      </p:sp>
      <p:pic>
        <p:nvPicPr>
          <p:cNvPr descr="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638300"/>
            <a:ext cx="5105400" cy="100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9: Запуск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7" type="arabicPeriod"/>
            </a:pPr>
            <a:r>
              <a:rPr/>
              <a:t>Удалите файл ~/logfile (рис. 10):</a:t>
            </a:r>
          </a:p>
        </p:txBody>
      </p:sp>
      <p:pic>
        <p:nvPicPr>
          <p:cNvPr descr="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689100"/>
            <a:ext cx="5105400" cy="91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10: Удаление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8" type="arabicPeriod"/>
            </a:pPr>
            <a:r>
              <a:rPr/>
              <a:t>Запустите из консоли в фоновом режиме редактор gedit (рис. 11):</a:t>
            </a:r>
          </a:p>
        </p:txBody>
      </p:sp>
      <p:pic>
        <p:nvPicPr>
          <p:cNvPr descr="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79500"/>
            <a:ext cx="5105400" cy="210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11: Запуск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9" type="arabicPeriod"/>
            </a:pPr>
            <a:r>
              <a:rPr/>
              <a:t>Определите идентификатор процесса gedit, используя команду ps, конвейер и фильтр grep (рис. 12):</a:t>
            </a:r>
          </a:p>
        </p:txBody>
      </p:sp>
      <p:pic>
        <p:nvPicPr>
          <p:cNvPr descr="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689100"/>
            <a:ext cx="5105400" cy="91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12: Определение индефикатора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Еще один способ (рис. 13):</a:t>
            </a:r>
          </a:p>
        </p:txBody>
      </p:sp>
      <p:pic>
        <p:nvPicPr>
          <p:cNvPr descr="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58900"/>
            <a:ext cx="5105400" cy="154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13: Определение индефикатора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10" type="arabicPeriod"/>
            </a:pPr>
            <a:r>
              <a:rPr/>
              <a:t>Прочтите справку (man) команды kill, после чего используйте её для завершения процесса gedit (рис. 14):</a:t>
            </a:r>
          </a:p>
        </p:txBody>
      </p:sp>
      <p:pic>
        <p:nvPicPr>
          <p:cNvPr descr="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12800"/>
            <a:ext cx="5105400" cy="2654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14: Справка о команде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Использование команды (рис. 15):</a:t>
            </a:r>
          </a:p>
        </p:txBody>
      </p:sp>
      <p:pic>
        <p:nvPicPr>
          <p:cNvPr descr="imag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73200"/>
            <a:ext cx="5105400" cy="134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15: Работа команды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11" type="arabicPeriod"/>
            </a:pPr>
            <a:r>
              <a:rPr/>
              <a:t>Выполните команды df и du, предварительно получив более подробную информацию об этих командах, с помощью команды man (рис. 16):</a:t>
            </a:r>
          </a:p>
        </p:txBody>
      </p:sp>
      <p:pic>
        <p:nvPicPr>
          <p:cNvPr descr="image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76300"/>
            <a:ext cx="5105400" cy="254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16: Справка о команде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Исполнение команды (рис. 17):</a:t>
            </a:r>
          </a:p>
        </p:txBody>
      </p:sp>
      <p:pic>
        <p:nvPicPr>
          <p:cNvPr descr="image/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57300"/>
            <a:ext cx="5105400" cy="175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17: Работа команды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информации о команде (рис. 18):</a:t>
            </a:r>
          </a:p>
        </p:txBody>
      </p:sp>
      <p:pic>
        <p:nvPicPr>
          <p:cNvPr descr="image/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74700"/>
            <a:ext cx="51054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18: Справка о команде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Использование команды (рис. 19):</a:t>
            </a:r>
          </a:p>
        </p:txBody>
      </p:sp>
      <p:pic>
        <p:nvPicPr>
          <p:cNvPr descr="image/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47800"/>
            <a:ext cx="51054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19: Работа команды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12" type="arabicPeriod"/>
            </a:pPr>
            <a:r>
              <a:rPr/>
              <a:t>Воспользовавшись справкой команды find, выведите имена всех директорий, имеющихся в вашем домашнем каталоге (рис. 20):</a:t>
            </a:r>
          </a:p>
        </p:txBody>
      </p:sp>
      <p:pic>
        <p:nvPicPr>
          <p:cNvPr descr="image/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87400"/>
            <a:ext cx="51054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20: Информация о команде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Использование команды (рис. 21):</a:t>
            </a:r>
          </a:p>
        </p:txBody>
      </p:sp>
      <p:pic>
        <p:nvPicPr>
          <p:cNvPr descr="image/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60500"/>
            <a:ext cx="5105400" cy="1358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21: Исполнение команды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 команды (рис. 22):</a:t>
            </a:r>
          </a:p>
        </p:txBody>
      </p:sp>
      <p:pic>
        <p:nvPicPr>
          <p:cNvPr descr="image/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78300" y="203200"/>
            <a:ext cx="38862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22: Исполнение команды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Контрольные вопросы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Какие потоки ввода вывода вы знаете?</a:t>
            </a:r>
          </a:p>
          <a:p>
            <a:pPr lvl="0" indent="0" marL="0">
              <a:buNone/>
            </a:pPr>
            <a:r>
              <a:rPr/>
              <a:t>В Linux существует три стандартных потока ввода-вывода: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200"/>
                <a:gridCol w="1333500"/>
                <a:gridCol w="18415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Поток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Аббревиатура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Номер дескриптора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Назначение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stdin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Input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Ввод данных в программу (по умолчанию — клавиатура)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stdout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Output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Вывод результатов работы программы (по умолчанию — терминал)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stderr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Error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Вывод сообщений об ошибках (по умолчанию — терминал)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Эти потоки можно перенаправлять с помощью операторов </a:t>
            </a:r>
            <a:r>
              <a:rPr>
                <a:latin typeface="Courier"/>
              </a:rPr>
              <a:t>&lt;</a:t>
            </a:r>
            <a:r>
              <a:rPr/>
              <a:t>, </a:t>
            </a:r>
            <a:r>
              <a:rPr>
                <a:latin typeface="Courier"/>
              </a:rPr>
              <a:t>&gt;</a:t>
            </a:r>
            <a:r>
              <a:rPr/>
              <a:t>, </a:t>
            </a:r>
            <a:r>
              <a:rPr>
                <a:latin typeface="Courier"/>
              </a:rPr>
              <a:t>2&gt;</a:t>
            </a:r>
            <a:r>
              <a:rPr/>
              <a:t>, </a:t>
            </a:r>
            <a:r>
              <a:rPr>
                <a:latin typeface="Courier"/>
              </a:rPr>
              <a:t>&amp;&gt;</a:t>
            </a:r>
            <a:r>
              <a:rPr/>
              <a:t> и других.</a:t>
            </a:r>
          </a:p>
          <a:p>
            <a:pPr lvl="0" indent="0" marL="0">
              <a:buNone/>
            </a:pPr>
            <a:r>
              <a:rPr b="1"/>
              <a:t>Примеры перенаправления:</a:t>
            </a:r>
            <a:r>
              <a:rPr/>
              <a:t> ```bash command &gt; output.txt # перенаправить stdout в файл command 2&gt; error.log # перенаправить stderr в файл command &amp;&gt; all.log # перенаправить оба потока в файл command &lt; input.txt # перенаправить stdin из файла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2. Объясните разницу между операцией </a:t>
            </a:r>
            <a:r>
              <a:rPr b="1">
                <a:latin typeface="Courier"/>
              </a:rPr>
              <a:t>&gt;</a:t>
            </a:r>
            <a:r>
              <a:rPr b="1"/>
              <a:t> и </a:t>
            </a:r>
            <a:r>
              <a:rPr b="1">
                <a:latin typeface="Courier"/>
              </a:rPr>
              <a:t>&gt;&gt;</a:t>
            </a:r>
            <a:r>
              <a:rPr b="1"/>
              <a:t>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  <a:gridCol w="1308100"/>
                <a:gridCol w="2489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Оператор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Описание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Поведение с файлом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&gt;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Перенаправление вывода с </a:t>
                      </a:r>
                      <a:r>
                        <a:rPr b="1"/>
                        <a:t>перезаписью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Если файл существует — его содержимое </a:t>
                      </a:r>
                      <a:r>
                        <a:rPr b="1"/>
                        <a:t>удаляется</a:t>
                      </a:r>
                      <a:r>
                        <a:rPr/>
                        <a:t>, затем записываются новые данные. Если файла нет — он создаётся.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&gt;&gt;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Перенаправление вывода с </a:t>
                      </a:r>
                      <a:r>
                        <a:rPr b="1"/>
                        <a:t>добавлением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Данные </a:t>
                      </a:r>
                      <a:r>
                        <a:rPr b="1"/>
                        <a:t>добавляются в конец</a:t>
                      </a:r>
                      <a:r>
                        <a:rPr/>
                        <a:t> файла. Если файла нет — он создаётся.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Примеры:</a:t>
            </a:r>
            <a:r>
              <a:rPr/>
              <a:t> ```bash echo “Привет” &gt; file.txt # file.txt будет содержать только “Привет”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3. Что такое конвейер?</a:t>
            </a:r>
          </a:p>
          <a:p>
            <a:pPr lvl="0" indent="0" marL="0">
              <a:buNone/>
            </a:pPr>
            <a:r>
              <a:rPr b="1"/>
              <a:t>Конвейер (pipeline)</a:t>
            </a:r>
            <a:r>
              <a:rPr/>
              <a:t> — это механизм командной оболочки (shell), позволяющий передать стандартный вывод одной команды на стандартный ввод другой с помощью символа </a:t>
            </a:r>
            <a:r>
              <a:rPr>
                <a:latin typeface="Courier"/>
              </a:rPr>
              <a:t>|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Синтаксис:</a:t>
            </a:r>
            <a:r>
              <a:rPr/>
              <a:t> ```bash команда1 | команда2 | команда3</a:t>
            </a:r>
          </a:p>
          <a:p>
            <a:pPr lvl="0" indent="0" marL="0">
              <a:buNone/>
            </a:pPr>
            <a:r>
              <a:rPr b="1"/>
              <a:t>Принцип работы:</a:t>
            </a:r>
            <a:r>
              <a:rPr/>
              <a:t> stdout команды слева автоматически становится stdin команды справа. Данные передаются потоком без создания промежуточных файлов.</a:t>
            </a:r>
          </a:p>
          <a:p>
            <a:pPr lvl="0" indent="0" marL="0">
              <a:buNone/>
            </a:pPr>
            <a:r>
              <a:rPr b="1"/>
              <a:t>Примеры использования:</a:t>
            </a:r>
            <a:r>
              <a:rPr/>
              <a:t> ```bash ls -la | grep “.txt” # отфильтровать только .txt файлы из длинного списка ps aux | grep nginx | wc -l # подсчитать количество запущенных процессов nginx cat access.log | awk ‘{print $1}’ | sort | uniq -c | sort -rn # топ IP-адресов в логе journalctl | grep “error” | head # вывести первые найденные ошибки из системного журнала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4. Что такое процесс? Чем это понятие отличается от программы?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0"/>
                <a:gridCol w="2921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Понятие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Определение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Программа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Статический исполняемый файл, хранящийся на диске. Содержит набор инструкций и ресурсов, но не выполняется.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Процесс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Динамический экземпляр запущенной программы в оперативной памяти. Имеет состояние, выделенные ресурсы, идентификатор (PID) и выполняется процессором.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Ключевые отличия:</a:t>
            </a:r>
            <a:r>
              <a:rPr/>
              <a:t> - Программа существует на носителе информации, процесс — в памяти и на CPU. - Одна программа может породить множество независимых процессов (например, несколько вкладок браузера). - Процесс имеет жизненный цикл: создание → выполнение → ожидание → завершение. - Процесс обладает собственным контекстом: регистры CPU, стек, куча, открытые файловые дескрипторы, сигналы.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5. Что такое PID и GID?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500"/>
                <a:gridCol w="1841500"/>
                <a:gridCol w="1422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Аббревиатура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Расшифровка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Описание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 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Уникальный числовой идентификатор процесса в системе. Присваивается ядром при создании. PID </a:t>
                      </a:r>
                      <a:r>
                        <a:rPr>
                          <a:latin typeface="Courier"/>
                        </a:rPr>
                        <a:t>1</a:t>
                      </a:r>
                      <a:r>
                        <a:rPr/>
                        <a:t> зарезервирован за </a:t>
                      </a:r>
                      <a:r>
                        <a:rPr>
                          <a:latin typeface="Courier"/>
                        </a:rPr>
                        <a:t>systemd</a:t>
                      </a:r>
                      <a:r>
                        <a:rPr/>
                        <a:t>/</a:t>
                      </a:r>
                      <a:r>
                        <a:rPr>
                          <a:latin typeface="Courier"/>
                        </a:rPr>
                        <a:t>init</a:t>
                      </a:r>
                      <a:r>
                        <a:rPr/>
                        <a:t>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Group 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Уникальный идентификатор группы пользователей. Определяет групповые права доступа к файлам, процессам и устройствам.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Полезные команды:</a:t>
            </a:r>
            <a:r>
              <a:rPr/>
              <a:t> ```bash echo $$ # вывести PID текущего интерпретатора shell ps aux | grep nginx # найти PID процесса по имени id # показать UID, GID и дополнительные группы текущего пользователя ps -eo pid,ppid,cmd # вывести PID, PID родителя и команду для всех процессов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6. Что такое задачи и какая команда позволяет ими управлять?</a:t>
            </a:r>
          </a:p>
          <a:p>
            <a:pPr lvl="0" indent="0" marL="0">
              <a:buNone/>
            </a:pPr>
            <a:r>
              <a:rPr b="1"/>
              <a:t>Задача (job)</a:t>
            </a:r>
            <a:r>
              <a:rPr/>
              <a:t> — это процесс или конвейер, запущенный в рамках текущей интерактивной сессии оболочки, которым можно управлять как единым целым (переводить в фон, приостанавливать, возвращать на передний план).</a:t>
            </a:r>
          </a:p>
          <a:p>
            <a:pPr lvl="0" indent="0" marL="0">
              <a:buNone/>
            </a:pPr>
            <a:r>
              <a:rPr b="1"/>
              <a:t>Управление задачами осуществляется встроенными командами shell: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00"/>
                <a:gridCol w="1651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Команда / Сочетание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Описание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jobs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Вывести список активных, остановленных и фоновых задач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bg [номер]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Продолжить выполнение остановленной задачи в фоновом режиме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fg [номер]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Перевести задачу на передний план (интерактивный режим)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Ctrl+Z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Приостановить выполнение текущей задачи (SIGTSTP)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Ctrl+C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Прервать выполнение текущей задачи (SIGINT)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%1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%2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Обращение к задаче по её номеру в списке </a:t>
                      </a:r>
                      <a:r>
                        <a:rPr>
                          <a:latin typeface="Courier"/>
                        </a:rPr>
                        <a:t>jobs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Пример работы:</a:t>
            </a:r>
            <a:r>
              <a:rPr/>
              <a:t> ```bash $ sleep 300 &amp; # запустить в фоне [1] 14502 $ jobs # показать список задач [1]+ Running sleep 300 &amp; $ fg %1 # вернуть на передний план $ Ctrl+Z # приостановить [1]+ Stopped sleep 300 $ bg %1 # продолжить в фоне [1]+ sleep 300 &amp;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7. Найдите информацию об утилитах top и htop. Каковы их функции?</a:t>
            </a:r>
          </a:p>
          <a:p>
            <a:pPr lvl="0" indent="0" marL="0">
              <a:buNone/>
            </a:pPr>
            <a:r>
              <a:rPr b="1"/>
              <a:t>🔹 </a:t>
            </a:r>
            <a:r>
              <a:rPr b="1">
                <a:latin typeface="Courier"/>
              </a:rPr>
              <a:t>top</a:t>
            </a:r>
            <a:r>
              <a:rPr/>
              <a:t> </a:t>
            </a:r>
            <a:r>
              <a:rPr b="1"/>
              <a:t>Описание:</a:t>
            </a:r>
            <a:r>
              <a:rPr/>
              <a:t> Стандартная утилита мониторинга процессов в реальном времени (входит в пакет </a:t>
            </a:r>
            <a:r>
              <a:rPr>
                <a:latin typeface="Courier"/>
              </a:rPr>
              <a:t>procps-ng</a:t>
            </a:r>
            <a:r>
              <a:rPr/>
              <a:t>).</a:t>
            </a:r>
          </a:p>
          <a:p>
            <a:pPr lvl="0" indent="0" marL="0">
              <a:buNone/>
            </a:pPr>
            <a:r>
              <a:rPr b="1"/>
              <a:t>Основные функции:</a:t>
            </a:r>
            <a:r>
              <a:rPr/>
              <a:t> - Отображение таблицы процессов: PID, пользователь, приоритет, %CPU, %MEM, время работы, команда - Сводная статистика системы: uptime, загрузка CPU, использование RAM и Swap, количество задач - Интерактивное управление: - </a:t>
            </a:r>
            <a:r>
              <a:rPr>
                <a:latin typeface="Courier"/>
              </a:rPr>
              <a:t>P</a:t>
            </a:r>
            <a:r>
              <a:rPr/>
              <a:t> — сортировка по загрузке CPU - </a:t>
            </a:r>
            <a:r>
              <a:rPr>
                <a:latin typeface="Courier"/>
              </a:rPr>
              <a:t>M</a:t>
            </a:r>
            <a:r>
              <a:rPr/>
              <a:t> — сортировка по потреблению памяти - </a:t>
            </a:r>
            <a:r>
              <a:rPr>
                <a:latin typeface="Courier"/>
              </a:rPr>
              <a:t>k</a:t>
            </a:r>
            <a:r>
              <a:rPr/>
              <a:t> — завершение процесса (запрос PID и сигнала) - </a:t>
            </a:r>
            <a:r>
              <a:rPr>
                <a:latin typeface="Courier"/>
              </a:rPr>
              <a:t>r</a:t>
            </a:r>
            <a:r>
              <a:rPr/>
              <a:t> — изменение приоритета (</a:t>
            </a:r>
            <a:r>
              <a:rPr>
                <a:latin typeface="Courier"/>
              </a:rPr>
              <a:t>renice</a:t>
            </a:r>
            <a:r>
              <a:rPr/>
              <a:t>) - </a:t>
            </a:r>
            <a:r>
              <a:rPr>
                <a:latin typeface="Courier"/>
              </a:rPr>
              <a:t>q</a:t>
            </a:r>
            <a:r>
              <a:rPr/>
              <a:t> — выход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🔹 </a:t>
            </a:r>
            <a:r>
              <a:rPr b="1">
                <a:latin typeface="Courier"/>
              </a:rPr>
              <a:t>htop</a:t>
            </a:r>
            <a:r>
              <a:rPr/>
              <a:t> </a:t>
            </a:r>
            <a:r>
              <a:rPr b="1"/>
              <a:t>Описание:</a:t>
            </a:r>
            <a:r>
              <a:rPr/>
              <a:t> Улучшенная интерактивная альтернатива </a:t>
            </a:r>
            <a:r>
              <a:rPr>
                <a:latin typeface="Courier"/>
              </a:rPr>
              <a:t>top</a:t>
            </a:r>
            <a:r>
              <a:rPr/>
              <a:t> с цветным псевдографическим интерфейсом (требует установки: </a:t>
            </a:r>
            <a:r>
              <a:rPr>
                <a:latin typeface="Courier"/>
              </a:rPr>
              <a:t>sudo apt install htop</a:t>
            </a:r>
            <a:r>
              <a:rPr/>
              <a:t>).</a:t>
            </a:r>
          </a:p>
          <a:p>
            <a:pPr lvl="0" indent="0" marL="0">
              <a:buNone/>
            </a:pPr>
            <a:r>
              <a:rPr b="1"/>
              <a:t>Преимущества:</a:t>
            </a:r>
            <a:r>
              <a:rPr/>
              <a:t> - Цветной интерфейс с гистограммами загрузки CPU и памяти - Вертикальная и горизонтальная прокрутка списка процессов - Древовидное отображение иерархии процессов (</a:t>
            </a:r>
            <a:r>
              <a:rPr>
                <a:latin typeface="Courier"/>
              </a:rPr>
              <a:t>F5</a:t>
            </a:r>
            <a:r>
              <a:rPr/>
              <a:t>) - Удобный поиск (</a:t>
            </a:r>
            <a:r>
              <a:rPr>
                <a:latin typeface="Courier"/>
              </a:rPr>
              <a:t>F3</a:t>
            </a:r>
            <a:r>
              <a:rPr/>
              <a:t>) и фильтрация - Управление мышью и клавиатурой - Быстрая отправка сигналов процессам (</a:t>
            </a:r>
            <a:r>
              <a:rPr>
                <a:latin typeface="Courier"/>
              </a:rPr>
              <a:t>F9</a:t>
            </a:r>
            <a:r>
              <a:rPr/>
              <a:t>)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8. Назовите и дайте характеристику команде поиска файлов. Приведите примеры использования этой команды.</a:t>
            </a:r>
          </a:p>
          <a:p>
            <a:pPr lvl="0" indent="0" marL="0">
              <a:buNone/>
            </a:pPr>
            <a:r>
              <a:rPr b="1"/>
              <a:t>Основная команда: </a:t>
            </a:r>
            <a:r>
              <a:rPr b="1">
                <a:latin typeface="Courier"/>
              </a:rPr>
              <a:t>find</a:t>
            </a:r>
          </a:p>
          <a:p>
            <a:pPr lvl="0" indent="0" marL="0">
              <a:buNone/>
            </a:pPr>
            <a:r>
              <a:rPr b="1"/>
              <a:t>Характеристика:</a:t>
            </a:r>
            <a:r>
              <a:rPr/>
              <a:t> - Мощная утилита для рекурсивного поиска файлов и каталогов - Поддерживает критерии поиска: имя, тип, размер, время изменения, права, владелец, группа - Работает в реальном времени, сканируя файловую систему - Поддерживает действия над найденными файлами: </a:t>
            </a:r>
            <a:r>
              <a:rPr>
                <a:latin typeface="Courier"/>
              </a:rPr>
              <a:t>-exec</a:t>
            </a:r>
            <a:r>
              <a:rPr/>
              <a:t>, </a:t>
            </a:r>
            <a:r>
              <a:rPr>
                <a:latin typeface="Courier"/>
              </a:rPr>
              <a:t>-delete</a:t>
            </a:r>
            <a:r>
              <a:rPr/>
              <a:t>, </a:t>
            </a:r>
            <a:r>
              <a:rPr>
                <a:latin typeface="Courier"/>
              </a:rPr>
              <a:t>-ok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Синтаксис:</a:t>
            </a:r>
            <a:r>
              <a:rPr/>
              <a:t> ```bash find [путь] [критерии] [действия]</a:t>
            </a:r>
          </a:p>
          <a:p>
            <a:pPr lvl="0" indent="0" marL="0">
              <a:buNone/>
            </a:pPr>
            <a:r>
              <a:rPr b="1"/>
              <a:t>Примеры использования:</a:t>
            </a:r>
            <a:r>
              <a:rPr/>
              <a:t> ```bash find /home -name “config.txt” # найти файлы по имени find /var/log -name “*.log” -mtime -7 # найти .log файлы, изменённые за последние 7 дней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9. Можно ли по контексту (содержанию) найти файл? Если да, то как?</a:t>
            </a:r>
          </a:p>
          <a:p>
            <a:pPr lvl="0" indent="0" marL="0">
              <a:buNone/>
            </a:pPr>
            <a:r>
              <a:rPr b="1"/>
              <a:t>Да, можно.</a:t>
            </a:r>
            <a:r>
              <a:rPr/>
              <a:t> Для поиска по содержимому файлов используются следующие инструменты:</a:t>
            </a:r>
          </a:p>
          <a:p>
            <a:pPr lvl="0" indent="0" marL="0">
              <a:buNone/>
            </a:pPr>
            <a:r>
              <a:rPr/>
              <a:t>🔹 </a:t>
            </a:r>
            <a:r>
              <a:rPr>
                <a:latin typeface="Courier"/>
              </a:rPr>
              <a:t>grep</a:t>
            </a:r>
            <a:r>
              <a:rPr/>
              <a:t> — основной инструмент ```bash grep “ошибка” *.log # поиск строки в файлах текущего каталога grep -r “CONFIG_VALUE” /etc/ # рекурсивный поиск по директории grep -rin “search term” /path/to/dir # поиск с номерами строк и игнорированием регистра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10. Как определить объем свободной памяти на жёстком диске?</a:t>
            </a:r>
          </a:p>
          <a:p>
            <a:pPr lvl="0" indent="0" marL="0">
              <a:buNone/>
            </a:pPr>
            <a:r>
              <a:rPr/>
              <a:t>Используйте команду </a:t>
            </a:r>
            <a:r>
              <a:rPr>
                <a:latin typeface="Courier"/>
              </a:rPr>
              <a:t>df</a:t>
            </a:r>
            <a:r>
              <a:rPr/>
              <a:t>:</a:t>
            </a:r>
          </a:p>
          <a:p>
            <a:pPr lvl="0" indent="0" marL="0">
              <a:buNone/>
            </a:pPr>
            <a:r>
              <a:rPr/>
              <a:t>```bash df -h # свободное место в ГБ/МБ df -h /home # только для раздела /home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11. Как определить объем вашего домашнего каталога?</a:t>
            </a:r>
          </a:p>
          <a:p>
            <a:pPr lvl="0" indent="0" marL="0">
              <a:buNone/>
            </a:pPr>
            <a:r>
              <a:rPr/>
              <a:t>Используйте команду </a:t>
            </a:r>
            <a:r>
              <a:rPr>
                <a:latin typeface="Courier"/>
              </a:rPr>
              <a:t>du</a:t>
            </a:r>
            <a:r>
              <a:rPr/>
              <a:t>:</a:t>
            </a:r>
          </a:p>
          <a:p>
            <a:pPr lvl="0" indent="0" marL="0">
              <a:buNone/>
            </a:pPr>
            <a:r>
              <a:rPr/>
              <a:t>```bash du -sh ~ # общий размер домашнего каталога du -h –max-depth=1 ~ # размер подкаталогов 1-го уровня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12. Как удалить зависший процесс?</a:t>
            </a:r>
          </a:p>
          <a:p>
            <a:pPr lvl="0" indent="0" marL="0">
              <a:buNone/>
            </a:pPr>
            <a:r>
              <a:rPr b="1"/>
              <a:t>1. Найти PID процесса:</a:t>
            </a:r>
            <a:r>
              <a:rPr/>
              <a:t> ```bash ps aux | grep имя_процесса pgrep имя_процесса top / htop # визуальный поиск</a:t>
            </a:r>
          </a:p>
          <a:p>
            <a:pPr lvl="0" indent="0" marL="0">
              <a:buNone/>
            </a:pPr>
            <a:r>
              <a:rPr b="1"/>
              <a:t>2. Завершить процесс:</a:t>
            </a:r>
            <a:r>
              <a:rPr/>
              <a:t> ```bash kill PID # мягкое завершение (SIGTERM) kill -9 PID # принудительное (SIGKILL) killall имя # завершить все процессы с именем pkill -f “строка” # по шаблону команды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Мы ознакомились с инструментами поиска файлов и фильтрации текстовых данных, приобрели практические навыки: по управлению процессами (и заданиями), по проверке использования диска и обслуживанию файловых систем.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№8</dc:title>
  <dc:creator>Иванова Анастасия Сергеевна</dc:creator>
  <cp:keywords/>
  <dcterms:created xsi:type="dcterms:W3CDTF">2026-04-04T11:32:30Z</dcterms:created>
  <dcterms:modified xsi:type="dcterms:W3CDTF">2026-04-04T11:32:30Z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2026-04-04</vt:lpwstr>
  </property>
  <property fmtid="{D5CDD505-2E9C-101B-9397-08002B2CF9AE}" pid="9" name="date-format">
    <vt:lpwstr>YYYY-MM-DD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по курсу: Архитектура компьютера и опреационные системы</vt:lpwstr>
  </property>
  <property fmtid="{D5CDD505-2E9C-101B-9397-08002B2CF9AE}" pid="16" name="toc-title">
    <vt:lpwstr>Содержание</vt:lpwstr>
  </property>
</Properties>
</file>