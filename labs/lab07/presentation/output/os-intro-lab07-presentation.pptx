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3" Type="http://schemas.openxmlformats.org/officeDocument/2006/relationships/viewProps" Target="viewProps.xml" /><Relationship Id="rId7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5" Type="http://schemas.openxmlformats.org/officeDocument/2006/relationships/tableStyles" Target="tableStyles.xml" /><Relationship Id="rId7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132250427@rudn.ru" TargetMode="External" /><Relationship Id="rId3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4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5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7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8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9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0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3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4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5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6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7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 курсу: Архитектура компьютера и опреационные системы</a:t>
            </a:r>
            <a:br/>
            <a:br/>
            <a:r>
              <a:rPr/>
              <a:t>Иванова Анастасия Сергеевна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2026-03-28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Иванова Анастасия Сергеевна</a:t>
            </a:r>
          </a:p>
          <a:p>
            <a:pPr lvl="0"/>
            <a:r>
              <a:rPr/>
              <a:t>1 курс группа НКАбд-07-25</a:t>
            </a:r>
          </a:p>
          <a:p>
            <a:pPr lvl="0"/>
            <a:r>
              <a:rPr/>
              <a:t>Российский университет дружбы народов</a:t>
            </a:r>
          </a:p>
          <a:p>
            <a:pPr lvl="0"/>
            <a:r>
              <a:rPr>
                <a:hlinkClick r:id="rId2"/>
              </a:rPr>
              <a:t>1132250427@rudn.ru</a:t>
            </a:r>
          </a:p>
        </p:txBody>
      </p:sp>
      <p:pic>
        <p:nvPicPr>
          <p:cNvPr descr="./image/m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Важно донести результаты своих исследований до окружающих</a:t>
            </a:r>
          </a:p>
          <a:p>
            <a:pPr lvl="0"/>
            <a:r>
              <a:rPr/>
              <a:t>Научная презентация — рабочий инструмент исследователя</a:t>
            </a:r>
          </a:p>
          <a:p>
            <a:pPr lvl="0"/>
            <a:r>
              <a:rPr/>
              <a:t>Необходимо создавать презентацию быстро</a:t>
            </a:r>
          </a:p>
          <a:p>
            <a:pPr lvl="0"/>
            <a:r>
              <a:rPr/>
              <a:t>Желательна минимизация усилий для создания презентации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Презентация как текст</a:t>
            </a:r>
          </a:p>
          <a:p>
            <a:pPr lvl="0"/>
            <a:r>
              <a:rPr/>
              <a:t>Программное обеспечение для создания презентаций</a:t>
            </a:r>
          </a:p>
          <a:p>
            <a:pPr lvl="0"/>
            <a:r>
              <a:rPr/>
              <a:t>Входные и выходные форматы презентаций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Ознакомление с файловой системой Linux, её структурой, именами и содержанием каталогов. Приобретение практических навыков по применению команд для работы с файлами и каталогами, по управлению процессами (и работами), по проверке использования диска и обслуживанию файловой системы.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Выполнение лабораторной работы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Выполним все примеры, приведённые в первой части описания лабораторной работы: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03300" y="1193800"/>
            <a:ext cx="7124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1: Выполнение программ из примеров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Выполним следующие действия: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2.1. Скопируем файл /usr/include/sys/io.h в домашний каталог и назовем его equipment: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79600"/>
            <a:ext cx="5105400" cy="53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2: Копирование файла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2.2. В домашнем каталоге создадим директорию ~/ski.plases: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55800"/>
            <a:ext cx="5105400" cy="38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3: Создание директории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2.3. Переместим файл equipment в каталог ~/ski.plases: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27200"/>
            <a:ext cx="5105400" cy="83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4: Перенос файла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2.4. Переименуем файл ~/ski.plases/equipment в ~/ski.plases/equiplist: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66900"/>
            <a:ext cx="5105400" cy="55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5: Переименовка файла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2.5. Создадим в домашнем каталоге файл abc1 и скопируем его в каталог ~/ski.plases, назовем equiplist2: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27200"/>
            <a:ext cx="5105400" cy="81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6: Создание файла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2.6. Создадим каталог с именем equipment в каталоге ~/ski.plases:</a:t>
            </a:r>
          </a:p>
        </p:txBody>
      </p:sp>
      <p:pic>
        <p:nvPicPr>
          <p:cNvPr descr="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51000"/>
            <a:ext cx="5105400" cy="96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7: Создание каталога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2.7. Переместим файлы ~/ski.plases/equiplist и equiplist2 в каталог ~/ski.plases/equipment:</a:t>
            </a:r>
          </a:p>
        </p:txBody>
      </p:sp>
      <p:pic>
        <p:nvPicPr>
          <p:cNvPr descr="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27200"/>
            <a:ext cx="5105400" cy="82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8: Перемещение файла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2.8. Создадим и переместим каталог ~/newdir в каталог ~/ski.plases и назовем его plans:</a:t>
            </a:r>
          </a:p>
        </p:txBody>
      </p:sp>
      <p:pic>
        <p:nvPicPr>
          <p:cNvPr descr="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25600"/>
            <a:ext cx="5105400" cy="101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9: Перемещение каталога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Определим опции команды chmod, необходимые для того, чтобы присвоить перечисленным ниже файлам выделенные права доступа, считая, что в начале таких прав нет: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3.1. drwxr–r– … australia 3.2. drwx–x–x … play 3.3. -r-xr–r– … my_os 3.4. -rw-rw-r– … feathers</a:t>
            </a:r>
          </a:p>
        </p:txBody>
      </p:sp>
      <p:pic>
        <p:nvPicPr>
          <p:cNvPr descr="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25600"/>
            <a:ext cx="5105400" cy="104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10: Выделение прав доступа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Проделаем приведённые ниже упражнения: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4.1. Просмотрим содержимое файла /etc/password:</a:t>
            </a:r>
          </a:p>
        </p:txBody>
      </p:sp>
      <p:pic>
        <p:nvPicPr>
          <p:cNvPr descr="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11: Просмотр содержимого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4.2. Скопируем файл ~/feathers в файл ~/file.old:</a:t>
            </a:r>
          </a:p>
        </p:txBody>
      </p:sp>
      <p:pic>
        <p:nvPicPr>
          <p:cNvPr descr="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81200"/>
            <a:ext cx="5105400" cy="33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12: Копирование файла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4.3. Переместим файл ~/file.old в каталог ~/play:</a:t>
            </a:r>
          </a:p>
        </p:txBody>
      </p:sp>
      <p:pic>
        <p:nvPicPr>
          <p:cNvPr descr="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638300"/>
            <a:ext cx="5105400" cy="100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13: Перемещение файла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4.4. Скопируем каталог ~/play в каталог ~/fun:</a:t>
            </a:r>
          </a:p>
        </p:txBody>
      </p:sp>
      <p:pic>
        <p:nvPicPr>
          <p:cNvPr descr="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05000"/>
            <a:ext cx="5105400" cy="45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14: Копирование файла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4.5. Переместим каталог ~/fun в каталог ~/play и назовем его games:</a:t>
            </a:r>
          </a:p>
        </p:txBody>
      </p:sp>
      <p:pic>
        <p:nvPicPr>
          <p:cNvPr descr="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55800"/>
            <a:ext cx="5105400" cy="36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15: Перемещение каталога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4.6. Лишим владельца файла ~/feathers права на чтение:</a:t>
            </a:r>
          </a:p>
        </p:txBody>
      </p:sp>
      <p:pic>
        <p:nvPicPr>
          <p:cNvPr descr="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06600"/>
            <a:ext cx="5105400" cy="26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16: Лишение права на чтение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4.7. Попытаетемся просмотреть файл ~/feathers командой cat:</a:t>
            </a:r>
          </a:p>
        </p:txBody>
      </p:sp>
      <p:pic>
        <p:nvPicPr>
          <p:cNvPr descr="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79600"/>
            <a:ext cx="5105400" cy="50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17: Попытка просмотра файла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4.8. Попытаемся скопировать файл ~/feathers:</a:t>
            </a:r>
          </a:p>
        </p:txBody>
      </p:sp>
      <p:pic>
        <p:nvPicPr>
          <p:cNvPr descr="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81200"/>
            <a:ext cx="5105400" cy="30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18: Попытка копирования файла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4.9. Вернем владельцу файла ~/feathers право на чтение:</a:t>
            </a:r>
          </a:p>
        </p:txBody>
      </p:sp>
      <p:pic>
        <p:nvPicPr>
          <p:cNvPr descr="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68500"/>
            <a:ext cx="5105400" cy="35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19: Возвращение прав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4.10. Лишим владельца каталога ~/play права на выполнение:</a:t>
            </a:r>
          </a:p>
        </p:txBody>
      </p:sp>
      <p:pic>
        <p:nvPicPr>
          <p:cNvPr descr="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81200"/>
            <a:ext cx="5105400" cy="33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20: Лишение прав на выполнение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4.11. Перейдем в каталог ~/play. Что произошло:</a:t>
            </a:r>
          </a:p>
        </p:txBody>
      </p:sp>
      <p:pic>
        <p:nvPicPr>
          <p:cNvPr descr="image/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05000"/>
            <a:ext cx="5105400" cy="469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21: Переход в каталог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4.12. Вернем владельцу каталога ~/play право на выполнение:</a:t>
            </a:r>
          </a:p>
        </p:txBody>
      </p:sp>
      <p:pic>
        <p:nvPicPr>
          <p:cNvPr descr="image/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955800"/>
            <a:ext cx="5105400" cy="36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22: Возвращение прав на выполнение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Прочитаем man по командам mount, fsck, mkfs, kill и кратко их охарактеризуем, приведя примеры: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mount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монтирование файловых систем (подключение дисков, разделов, устройств к каталогам).</a:t>
            </a:r>
          </a:p>
          <a:p>
            <a:pPr lvl="0" indent="0" marL="0">
              <a:buNone/>
            </a:pPr>
            <a:r>
              <a:rPr b="1"/>
              <a:t>Пример:</a:t>
            </a:r>
            <a:r>
              <a:rPr/>
              <a:t> ```bash mount /dev/sda1 /mnt</a:t>
            </a:r>
          </a:p>
        </p:txBody>
      </p:sp>
      <p:pic>
        <p:nvPicPr>
          <p:cNvPr descr="image/2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36600"/>
            <a:ext cx="5105400" cy="279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23: Характеристика команды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fsck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проверка и восстановление целостности файловой системы.</a:t>
            </a:r>
          </a:p>
          <a:p>
            <a:pPr lvl="0" indent="0" marL="0">
              <a:buNone/>
            </a:pPr>
            <a:r>
              <a:rPr b="1"/>
              <a:t>Пример:</a:t>
            </a:r>
            <a:r>
              <a:rPr/>
              <a:t> ```bash fsck /dev/sda1</a:t>
            </a:r>
          </a:p>
        </p:txBody>
      </p:sp>
      <p:pic>
        <p:nvPicPr>
          <p:cNvPr descr="image/2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24: Характеристика команды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mkfs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создание файловой системы (форматирование раздела).</a:t>
            </a:r>
          </a:p>
          <a:p>
            <a:pPr lvl="0" indent="0" marL="0">
              <a:buNone/>
            </a:pPr>
            <a:r>
              <a:rPr b="1"/>
              <a:t>Пример:</a:t>
            </a:r>
            <a:r>
              <a:rPr/>
              <a:t> ```bash mkfs.ext4 /dev/sdb1</a:t>
            </a:r>
          </a:p>
        </p:txBody>
      </p:sp>
      <p:pic>
        <p:nvPicPr>
          <p:cNvPr descr="image/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25: Характеристика команды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kill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Назначение:</a:t>
            </a:r>
            <a:r>
              <a:rPr/>
              <a:t> отправка сигналов процессам (завершение, остановка, перезапуск).</a:t>
            </a:r>
          </a:p>
          <a:p>
            <a:pPr lvl="0" indent="0" marL="0">
              <a:buNone/>
            </a:pPr>
            <a:r>
              <a:rPr b="1"/>
              <a:t>Пример:</a:t>
            </a:r>
            <a:r>
              <a:rPr/>
              <a:t> ```bash kill -9 1234</a:t>
            </a:r>
          </a:p>
        </p:txBody>
      </p:sp>
      <p:pic>
        <p:nvPicPr>
          <p:cNvPr descr="image/2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2679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Рисунок 26: Характеристика команды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Контрольные вопросы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Дайте характеристику каждой файловой системе, существующей на жёстком диске компьютера, на котором вы выполняли лабораторную работу.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Файловые системы, которые могут присутствовать на жёстком диске:</a:t>
            </a:r>
          </a:p>
          <a:p>
            <a:pPr lvl="0"/>
            <a:r>
              <a:rPr b="1"/>
              <a:t>ext4</a:t>
            </a:r>
            <a:r>
              <a:rPr/>
              <a:t> — стандартная файловая система для Linux. Поддерживает журналирование (восстановление после сбоев), большие файлы (до 16 ТБ) и разделы (до 1 ЭБ). Используется для корневого раздела и домашних каталогов.</a:t>
            </a:r>
          </a:p>
          <a:p>
            <a:pPr lvl="0"/>
            <a:r>
              <a:rPr b="1"/>
              <a:t>swap</a:t>
            </a:r>
            <a:r>
              <a:rPr/>
              <a:t> — не файловая система в классическом понимании, а раздел подкачки. Используется для временного хранения данных при нехватке оперативной памяти.</a:t>
            </a:r>
          </a:p>
          <a:p>
            <a:pPr lvl="0"/>
            <a:r>
              <a:rPr b="1"/>
              <a:t>EFI System Partition (ESP)</a:t>
            </a:r>
            <a:r>
              <a:rPr/>
              <a:t> — раздел с файловой системой FAT32, содержит загрузчики для UEFI.</a:t>
            </a:r>
          </a:p>
          <a:p>
            <a:pPr lvl="0"/>
            <a:r>
              <a:rPr b="1"/>
              <a:t>tmpfs</a:t>
            </a:r>
            <a:r>
              <a:rPr/>
              <a:t> — временная файловая система в оперативной памяти, используется для </a:t>
            </a:r>
            <a:r>
              <a:rPr>
                <a:latin typeface="Courier"/>
              </a:rPr>
              <a:t>/tmp</a:t>
            </a:r>
            <a:r>
              <a:rPr/>
              <a:t>, </a:t>
            </a:r>
            <a:r>
              <a:rPr>
                <a:latin typeface="Courier"/>
              </a:rPr>
              <a:t>/run</a:t>
            </a:r>
            <a:r>
              <a:rPr/>
              <a:t>, </a:t>
            </a:r>
            <a:r>
              <a:rPr>
                <a:latin typeface="Courier"/>
              </a:rPr>
              <a:t>/dev/shm</a:t>
            </a:r>
            <a:r>
              <a:rPr/>
              <a:t>. Данные не сохраняются после перезагрузки.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Приведите общую структуру файловой системы и дайте характеристику каждой директории первого уровня этой структуры.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Стандартная структура файловой системы Linux (FHS — Filesystem Hierarchy Standard):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/>
                <a:gridCol w="2921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Каталог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Корневой каталог, основа всей файловой системы.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/bin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Базовые исполняемые файлы (команды), необходимые для работы системы в однопользовательском режиме.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/boot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Файлы загрузчика (ядро, initrd, GRUB).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/dev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Файлы устройств (диски, терминалы, и т.д.).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/etc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Конфигурационные файлы системы.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Домашние каталоги пользователей.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/lib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Библиотеки, необходимые для программ в </a:t>
                      </a:r>
                      <a:r>
                        <a:rPr>
                          <a:latin typeface="Courier"/>
                        </a:rPr>
                        <a:t>/bin</a:t>
                      </a:r>
                      <a:r>
                        <a:rPr/>
                        <a:t> и </a:t>
                      </a:r>
                      <a:r>
                        <a:rPr>
                          <a:latin typeface="Courier"/>
                        </a:rPr>
                        <a:t>/sbin</a:t>
                      </a:r>
                      <a:r>
                        <a:rPr/>
                        <a:t>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/media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Точки монтирования съёмных носителей.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/mnt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Временные точки монтирования.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/opt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Дополнительное программное обеспечение.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/proc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Виртуальная файловая система, предоставляющая информацию о процессах и ядре.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/root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Домашний каталог суперпользователя.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/run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Данные о работающей системе (PID-файлы, сокеты).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/sbin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Системные исполняемые файлы для администрирования.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/srv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Данные сервисов (например, веб-сервера).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/sys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Виртуальная файловая система для информации об устройствах и ядре.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/tmp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Временные файлы (очищается при перезагрузке).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/usr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Пользовательские программы, библиотеки, документация.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/var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Изменяемые данные (логи, очереди печати, кэш).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Какая операция должна быть выполнена, чтобы содержимое некоторой файловой системы было доступно операционной системе?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Необходимо выполнить </a:t>
            </a:r>
            <a:r>
              <a:rPr b="1"/>
              <a:t>монтирование (mount)</a:t>
            </a:r>
            <a:r>
              <a:rPr/>
              <a:t> файловой системы. Для этого используется команда </a:t>
            </a:r>
            <a:r>
              <a:rPr>
                <a:latin typeface="Courier"/>
              </a:rPr>
              <a:t>mount</a:t>
            </a:r>
            <a:r>
              <a:rPr/>
              <a:t>, которая связывает устройство (раздел диска) с точкой монтирования (каталогом). Пример: ```bash mount /dev/sdb1 /mnt/data</a:t>
            </a:r>
          </a:p>
          <a:p>
            <a:pPr lvl="0" indent="0" marL="0">
              <a:buNone/>
            </a:pPr>
            <a:r>
              <a:rPr/>
              <a:t>После этого содержимое раздела /dev/sdb1 становится доступным в каталоге /mnt/data.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Назовите основные причины нарушения целостности файловой системы. Как устранить повреждения файловой системы?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Причины нарушения целостности:</a:t>
            </a:r>
          </a:p>
          <a:p>
            <a:pPr lvl="0" indent="0">
              <a:buNone/>
            </a:pPr>
            <a:r>
              <a:rPr>
                <a:latin typeface="Courier"/>
              </a:rPr>
              <a:t>- внезапное отключение питания
- аппаратные сбои (плохие сектора на диске)
- ошибки в работе программ или драйверов
- некорректное завершение работы системы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Устранение повреждений:</a:t>
            </a:r>
          </a:p>
          <a:p>
            <a:pPr lvl="0" indent="0" marL="0">
              <a:buNone/>
            </a:pPr>
            <a:r>
              <a:rPr/>
              <a:t>1.Использование команды fsck (file system check):</a:t>
            </a:r>
          </a:p>
          <a:p>
            <a:pPr lvl="0" indent="0" marL="0">
              <a:buNone/>
            </a:pPr>
            <a:r>
              <a:rPr/>
              <a:t>```bash fsck /dev/sda1</a:t>
            </a:r>
          </a:p>
          <a:p>
            <a:pPr lvl="0" indent="0" marL="0">
              <a:buNone/>
            </a:pPr>
            <a:r>
              <a:rPr/>
              <a:t>2.Для журналируемых файловых систем (ext4) восстановление происходит быстрее за счёт журнала.</a:t>
            </a:r>
          </a:p>
          <a:p>
            <a:pPr lvl="0" indent="0" marL="0">
              <a:buNone/>
            </a:pPr>
            <a:r>
              <a:rPr/>
              <a:t>3.В некоторых случаях может потребоваться загрузка с Live-системы для проверки корневого раздела.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Как создаётся файловая система?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Файловая система создаётся с помощью команды mkfs (make file system) для выбранного раздела. Примеры:</a:t>
            </a:r>
          </a:p>
          <a:p>
            <a:pPr lvl="0" indent="0" marL="0">
              <a:buNone/>
            </a:pPr>
            <a:r>
              <a:rPr/>
              <a:t>```bash mkfs.ext4 /dev/sdb1 # создание ext4 mkfs.xfs /dev/sdb2 # создание XFS mkfs.vfat /dev/sdb3 # создание FAT32</a:t>
            </a:r>
          </a:p>
          <a:p>
            <a:pPr lvl="0" indent="0" marL="0">
              <a:buNone/>
            </a:pPr>
            <a:r>
              <a:rPr/>
              <a:t>Перед созданием файловой системы раздел должен быть размечен (с помощью fdisk, gdisk, parted).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Дайте характеристику командам для просмотра текстовых файлов.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Команда Назначение</a:t>
            </a:r>
          </a:p>
          <a:p>
            <a:pPr lvl="0" indent="0" marL="0">
              <a:buNone/>
            </a:pPr>
            <a:r>
              <a:rPr/>
              <a:t>Пример: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892300"/>
                <a:gridCol w="1511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Пример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Выводит содержимое файла целиком. Подходит для небольших файлов.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cat file.txt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Постраничный просмотр. Позволяет прокручивать файл вперёд и назад.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less file.txt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Выводит первые строки файла (по умолчанию 10).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head -20 file.txt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Выводит последние строки файла (по умолчанию 10).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tail -5 file.txt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Выводит содержимое с нумерацией строк.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nl file.txt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Приведите основные возможности команды cp в Linux.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Команда cp используется для копирования файлов и каталогов.</a:t>
            </a:r>
          </a:p>
          <a:p>
            <a:pPr lvl="0" indent="0" marL="0">
              <a:buNone/>
            </a:pPr>
            <a:r>
              <a:rPr/>
              <a:t>Пример: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Запрос подтверждения перед перезаписью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-r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-R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Рекурсивное копирование каталогов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Копировать только если исходный файл новее целевого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Выводить подробности (verbose)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Сохранять права доступа, владельца и временные метки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Архивное копирование (сохраняет все атрибуты, рекурсивно)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Примеры:</a:t>
            </a:r>
          </a:p>
          <a:p>
            <a:pPr lvl="0" indent="0" marL="0">
              <a:buNone/>
            </a:pPr>
            <a:r>
              <a:rPr/>
              <a:t>```bash cp file1 file2 # копирование файла cp -r dir1 dir2 # копирование каталога cp -i file1 file2 # запрос перед перезаписью</a:t>
            </a:r>
          </a:p>
          <a:p>
            <a:pPr lvl="0" indent="0" marL="0">
              <a:buNone/>
            </a:pPr>
            <a:r>
              <a:rPr/>
              <a:t>```bash cp file1 file2 # копирование файла cp -r dir1 dir2 # копирование каталога cp -i file1 file2 # запрос перед перезаписью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8. Приведите основные возможности команды mv в Linux.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Команда mv используется для перемещения и переименования файлов и каталогов.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Опция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Запрос подтверждения перед перезаписью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Перемещать только если исходный файл новее целевого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Выводить подробности (verbose)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-n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Не перезаписывать существующие файлы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```bash mv file1 file2 # переименование mv file1 dir/ # перемещение mv -i file1 file2 # запрос перед перезаписью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Что такое права доступа? Как они могут быть изменены?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Права доступа — это набор правил, определяющих, кто и какие действия может выполнять с файлом или каталогом. Права задаются для трёх категорий пользователей:</a:t>
            </a:r>
          </a:p>
          <a:p>
            <a:pPr lvl="0" indent="0">
              <a:buNone/>
            </a:pPr>
            <a:r>
              <a:rPr>
                <a:latin typeface="Courier"/>
              </a:rPr>
              <a:t>u (user) — владелец
g (group) — группа-владелец
o (others) — все остальные</a:t>
            </a:r>
          </a:p>
          <a:p>
            <a:pPr lvl="0" indent="0" marL="0">
              <a:buNone/>
            </a:pPr>
            <a:r>
              <a:rPr/>
              <a:t>Действия:</a:t>
            </a:r>
          </a:p>
          <a:p>
            <a:pPr lvl="0" indent="0">
              <a:buNone/>
            </a:pPr>
            <a:r>
              <a:rPr>
                <a:latin typeface="Courier"/>
              </a:rPr>
              <a:t>r (read) — чтение
w (write) — запись
x (execute) — выполнение (для файлов) / доступ в каталог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прав выполняется командой chmod (change mode) в двух форматах:</a:t>
            </a:r>
          </a:p>
          <a:p>
            <a:pPr lvl="0" indent="-342900" marL="342900">
              <a:buAutoNum type="arabicPeriod"/>
            </a:pPr>
            <a:r>
              <a:rPr/>
              <a:t>Символьный формат:</a:t>
            </a:r>
          </a:p>
          <a:p>
            <a:pPr lvl="0" indent="0" marL="0">
              <a:buNone/>
            </a:pPr>
            <a:r>
              <a:rPr/>
              <a:t>```bash</a:t>
            </a:r>
            <a:br/>
            <a:r>
              <a:rPr/>
              <a:t>chmod u+x file # добавить выполнение для владельца chmod g-w file # убрать запись для группы chmod u=rwx,g=rx,o=r file # установить конкретные права</a:t>
            </a:r>
          </a:p>
          <a:p>
            <a:pPr lvl="0" indent="-342900" marL="342900">
              <a:buAutoNum startAt="2" type="arabicPeriod"/>
            </a:pPr>
            <a:r>
              <a:rPr/>
              <a:t>Числовой (восьмеричный) формат:</a:t>
            </a:r>
          </a:p>
          <a:p>
            <a:pPr lvl="0" indent="0" marL="0">
              <a:buNone/>
            </a:pPr>
            <a:r>
              <a:rPr/>
              <a:t>```bash chmod 755 file # rwxr-xr-x chmod 644 file # rw-r–r–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ознакомились с файловой системой Linux, её структурой, именами и содержанием каталогов. Приобрели практические навыки по применению команд для работы с файлами и каталогами, по управлению процессами (и работами), по проверке использования диска и обслуживанию файловой системы.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№7</dc:title>
  <dc:creator>Иванова Анастасия Сергеевна</dc:creator>
  <cp:keywords/>
  <dcterms:created xsi:type="dcterms:W3CDTF">2026-03-28T18:45:04Z</dcterms:created>
  <dcterms:modified xsi:type="dcterms:W3CDTF">2026-03-28T18:45:04Z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2026-03-28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по курсу: Архитектура компьютера и опреационные системы</vt:lpwstr>
  </property>
  <property fmtid="{D5CDD505-2E9C-101B-9397-08002B2CF9AE}" pid="16" name="toc-title">
    <vt:lpwstr>Содержание</vt:lpwstr>
  </property>
</Properties>
</file>